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4" r:id="rId11"/>
    <p:sldId id="265" r:id="rId12"/>
    <p:sldId id="266" r:id="rId13"/>
    <p:sldId id="268" r:id="rId14"/>
    <p:sldId id="269" r:id="rId15"/>
    <p:sldId id="270" r:id="rId16"/>
    <p:sldId id="272" r:id="rId17"/>
    <p:sldId id="271" r:id="rId18"/>
    <p:sldId id="295" r:id="rId19"/>
    <p:sldId id="273" r:id="rId20"/>
    <p:sldId id="274" r:id="rId21"/>
  </p:sldIdLst>
  <p:sldSz cx="12192000" cy="6858000" type="screen16x9"/>
  <p:notesSz cx="6858000" cy="9144000"/>
  <p:embeddedFontLst>
    <p:embeddedFont>
      <p:font typeface="Calibri" panose="020F0502020204030204"/>
      <p:regular r:id="rId25"/>
    </p:embeddedFont>
    <p:embeddedFont>
      <p:font typeface="Arial Narrow" panose="020B0606020202030204"/>
      <p:regular r:id="rId26"/>
      <p:bold r:id="rId27"/>
      <p:italic r:id="rId28"/>
      <p:boldItalic r:id="rId29"/>
    </p:embeddedFont>
    <p:embeddedFont>
      <p:font typeface="Arial Narrow" panose="020B060602020203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DD818E-ADFA-4579-856F-A3140DA02BD1}"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Style>
        <a:tcBdr/>
        <a:fill>
          <a:solidFill>
            <a:srgbClr val="D4E2CE"/>
          </a:solidFill>
        </a:fill>
      </a:tcStyle>
    </a:band1H>
    <a:band2H>
      <a:tcStyle>
        <a:tcBdr/>
      </a:tcStyle>
    </a:band2H>
    <a:band1V>
      <a:tcStyle>
        <a:tcBdr/>
        <a:fill>
          <a:solidFill>
            <a:srgbClr val="D4E2CE"/>
          </a:solidFill>
        </a:fill>
      </a:tcStyle>
    </a:band1V>
    <a:band2V>
      <a:tcStyle>
        <a:tcBdr/>
      </a:tcStyle>
    </a:band2V>
    <a:lastCol>
      <a:tcTxStyle b="on">
        <a:font>
          <a:latin typeface="Calibri"/>
          <a:ea typeface="Calibri"/>
          <a:cs typeface="Calibri"/>
        </a:font>
        <a:schemeClr val="lt1"/>
      </a:tcTxStyle>
      <a:tcStyle>
        <a:tcBdr/>
        <a:fill>
          <a:solidFill>
            <a:schemeClr val="accent6"/>
          </a:solidFill>
        </a:fill>
      </a:tcStyle>
    </a:lastCol>
    <a:firstCol>
      <a:tcTxStyle b="on">
        <a:font>
          <a:latin typeface="Calibri"/>
          <a:ea typeface="Calibri"/>
          <a:cs typeface="Calibri"/>
        </a:font>
        <a:schemeClr val="lt1"/>
      </a:tcTxStyle>
      <a:tcStyle>
        <a:tcBdr/>
        <a:fill>
          <a:solidFill>
            <a:schemeClr val="accent6"/>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3" name="Shape 2"/>
        <p:cNvGrpSpPr/>
        <p:nvPr/>
      </p:nvGrpSpPr>
      <p:grpSpPr>
        <a:xfrm>
          <a:off x="0" y="0"/>
          <a:ext cx="0" cy="0"/>
          <a:chOff x="0" y="0"/>
          <a:chExt cx="0" cy="0"/>
        </a:xfrm>
      </p:grpSpPr>
      <p:sp>
        <p:nvSpPr>
          <p:cNvPr id="1048725"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6"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7"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728"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29"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730"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 name="Shape 84"/>
        <p:cNvGrpSpPr/>
        <p:nvPr/>
      </p:nvGrpSpPr>
      <p:grpSpPr>
        <a:xfrm>
          <a:off x="0" y="0"/>
          <a:ext cx="0" cy="0"/>
          <a:chOff x="0" y="0"/>
          <a:chExt cx="0" cy="0"/>
        </a:xfrm>
      </p:grpSpPr>
      <p:sp>
        <p:nvSpPr>
          <p:cNvPr id="1048588"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89"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 name="Shape 92"/>
        <p:cNvGrpSpPr/>
        <p:nvPr/>
      </p:nvGrpSpPr>
      <p:grpSpPr>
        <a:xfrm>
          <a:off x="0" y="0"/>
          <a:ext cx="0" cy="0"/>
          <a:chOff x="0" y="0"/>
          <a:chExt cx="0" cy="0"/>
        </a:xfrm>
      </p:grpSpPr>
      <p:sp>
        <p:nvSpPr>
          <p:cNvPr id="1048595"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596"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100"/>
        <p:cNvGrpSpPr/>
        <p:nvPr/>
      </p:nvGrpSpPr>
      <p:grpSpPr>
        <a:xfrm>
          <a:off x="0" y="0"/>
          <a:ext cx="0" cy="0"/>
          <a:chOff x="0" y="0"/>
          <a:chExt cx="0" cy="0"/>
        </a:xfrm>
      </p:grpSpPr>
      <p:sp>
        <p:nvSpPr>
          <p:cNvPr id="1048600"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01"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 name="Shape 107"/>
        <p:cNvGrpSpPr/>
        <p:nvPr/>
      </p:nvGrpSpPr>
      <p:grpSpPr>
        <a:xfrm>
          <a:off x="0" y="0"/>
          <a:ext cx="0" cy="0"/>
          <a:chOff x="0" y="0"/>
          <a:chExt cx="0" cy="0"/>
        </a:xfrm>
      </p:grpSpPr>
      <p:sp>
        <p:nvSpPr>
          <p:cNvPr id="1048605"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06"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 name="Shape 114"/>
        <p:cNvGrpSpPr/>
        <p:nvPr/>
      </p:nvGrpSpPr>
      <p:grpSpPr>
        <a:xfrm>
          <a:off x="0" y="0"/>
          <a:ext cx="0" cy="0"/>
          <a:chOff x="0" y="0"/>
          <a:chExt cx="0" cy="0"/>
        </a:xfrm>
      </p:grpSpPr>
      <p:sp>
        <p:nvSpPr>
          <p:cNvPr id="1048610"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1"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122"/>
        <p:cNvGrpSpPr/>
        <p:nvPr/>
      </p:nvGrpSpPr>
      <p:grpSpPr>
        <a:xfrm>
          <a:off x="0" y="0"/>
          <a:ext cx="0" cy="0"/>
          <a:chOff x="0" y="0"/>
          <a:chExt cx="0" cy="0"/>
        </a:xfrm>
      </p:grpSpPr>
      <p:sp>
        <p:nvSpPr>
          <p:cNvPr id="1048617"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18"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 name="Shape 122"/>
        <p:cNvGrpSpPr/>
        <p:nvPr/>
      </p:nvGrpSpPr>
      <p:grpSpPr>
        <a:xfrm>
          <a:off x="0" y="0"/>
          <a:ext cx="0" cy="0"/>
          <a:chOff x="0" y="0"/>
          <a:chExt cx="0" cy="0"/>
        </a:xfrm>
      </p:grpSpPr>
      <p:sp>
        <p:nvSpPr>
          <p:cNvPr id="1048622"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23"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128"/>
        <p:cNvGrpSpPr/>
        <p:nvPr/>
      </p:nvGrpSpPr>
      <p:grpSpPr>
        <a:xfrm>
          <a:off x="0" y="0"/>
          <a:ext cx="0" cy="0"/>
          <a:chOff x="0" y="0"/>
          <a:chExt cx="0" cy="0"/>
        </a:xfrm>
      </p:grpSpPr>
      <p:sp>
        <p:nvSpPr>
          <p:cNvPr id="1048626"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27"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134"/>
        <p:cNvGrpSpPr/>
        <p:nvPr/>
      </p:nvGrpSpPr>
      <p:grpSpPr>
        <a:xfrm>
          <a:off x="0" y="0"/>
          <a:ext cx="0" cy="0"/>
          <a:chOff x="0" y="0"/>
          <a:chExt cx="0" cy="0"/>
        </a:xfrm>
      </p:grpSpPr>
      <p:sp>
        <p:nvSpPr>
          <p:cNvPr id="1048640"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41"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142"/>
        <p:cNvGrpSpPr/>
        <p:nvPr/>
      </p:nvGrpSpPr>
      <p:grpSpPr>
        <a:xfrm>
          <a:off x="0" y="0"/>
          <a:ext cx="0" cy="0"/>
          <a:chOff x="0" y="0"/>
          <a:chExt cx="0" cy="0"/>
        </a:xfrm>
      </p:grpSpPr>
      <p:sp>
        <p:nvSpPr>
          <p:cNvPr id="1048645"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46"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149"/>
        <p:cNvGrpSpPr/>
        <p:nvPr/>
      </p:nvGrpSpPr>
      <p:grpSpPr>
        <a:xfrm>
          <a:off x="0" y="0"/>
          <a:ext cx="0" cy="0"/>
          <a:chOff x="0" y="0"/>
          <a:chExt cx="0" cy="0"/>
        </a:xfrm>
      </p:grpSpPr>
      <p:sp>
        <p:nvSpPr>
          <p:cNvPr id="1048651" name="Google Shape;1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2"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 name="Shape 156"/>
        <p:cNvGrpSpPr/>
        <p:nvPr/>
      </p:nvGrpSpPr>
      <p:grpSpPr>
        <a:xfrm>
          <a:off x="0" y="0"/>
          <a:ext cx="0" cy="0"/>
          <a:chOff x="0" y="0"/>
          <a:chExt cx="0" cy="0"/>
        </a:xfrm>
      </p:grpSpPr>
      <p:sp>
        <p:nvSpPr>
          <p:cNvPr id="1048656"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57"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163"/>
        <p:cNvGrpSpPr/>
        <p:nvPr/>
      </p:nvGrpSpPr>
      <p:grpSpPr>
        <a:xfrm>
          <a:off x="0" y="0"/>
          <a:ext cx="0" cy="0"/>
          <a:chOff x="0" y="0"/>
          <a:chExt cx="0" cy="0"/>
        </a:xfrm>
      </p:grpSpPr>
      <p:sp>
        <p:nvSpPr>
          <p:cNvPr id="1048661" name="Google Shape;16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62" name="Google Shape;16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177"/>
        <p:cNvGrpSpPr/>
        <p:nvPr/>
      </p:nvGrpSpPr>
      <p:grpSpPr>
        <a:xfrm>
          <a:off x="0" y="0"/>
          <a:ext cx="0" cy="0"/>
          <a:chOff x="0" y="0"/>
          <a:chExt cx="0" cy="0"/>
        </a:xfrm>
      </p:grpSpPr>
      <p:sp>
        <p:nvSpPr>
          <p:cNvPr id="1048671"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72"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170"/>
        <p:cNvGrpSpPr/>
        <p:nvPr/>
      </p:nvGrpSpPr>
      <p:grpSpPr>
        <a:xfrm>
          <a:off x="0" y="0"/>
          <a:ext cx="0" cy="0"/>
          <a:chOff x="0" y="0"/>
          <a:chExt cx="0" cy="0"/>
        </a:xfrm>
      </p:grpSpPr>
      <p:sp>
        <p:nvSpPr>
          <p:cNvPr id="1048666"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67"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 name="Shape 170"/>
        <p:cNvGrpSpPr/>
        <p:nvPr/>
      </p:nvGrpSpPr>
      <p:grpSpPr>
        <a:xfrm>
          <a:off x="0" y="0"/>
          <a:ext cx="0" cy="0"/>
          <a:chOff x="0" y="0"/>
          <a:chExt cx="0" cy="0"/>
        </a:xfrm>
      </p:grpSpPr>
      <p:sp>
        <p:nvSpPr>
          <p:cNvPr id="1048666"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67"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 name="Shape 190"/>
        <p:cNvGrpSpPr/>
        <p:nvPr/>
      </p:nvGrpSpPr>
      <p:grpSpPr>
        <a:xfrm>
          <a:off x="0" y="0"/>
          <a:ext cx="0" cy="0"/>
          <a:chOff x="0" y="0"/>
          <a:chExt cx="0" cy="0"/>
        </a:xfrm>
      </p:grpSpPr>
      <p:sp>
        <p:nvSpPr>
          <p:cNvPr id="1048676"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77"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190"/>
        <p:cNvGrpSpPr/>
        <p:nvPr/>
      </p:nvGrpSpPr>
      <p:grpSpPr>
        <a:xfrm>
          <a:off x="0" y="0"/>
          <a:ext cx="0" cy="0"/>
          <a:chOff x="0" y="0"/>
          <a:chExt cx="0" cy="0"/>
        </a:xfrm>
      </p:grpSpPr>
      <p:sp>
        <p:nvSpPr>
          <p:cNvPr id="104868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p>
            <a:pPr marL="0" lvl="0" indent="0" algn="l" rtl="0">
              <a:spcBef>
                <a:spcPts val="0"/>
              </a:spcBef>
              <a:spcAft>
                <a:spcPts val="0"/>
              </a:spcAft>
              <a:buNone/>
            </a:pPr>
          </a:p>
        </p:txBody>
      </p:sp>
      <p:sp>
        <p:nvSpPr>
          <p:cNvPr id="104868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4" name="Shape 15"/>
        <p:cNvGrpSpPr/>
        <p:nvPr/>
      </p:nvGrpSpPr>
      <p:grpSpPr>
        <a:xfrm>
          <a:off x="0" y="0"/>
          <a:ext cx="0" cy="0"/>
          <a:chOff x="0" y="0"/>
          <a:chExt cx="0" cy="0"/>
        </a:xfrm>
      </p:grpSpPr>
      <p:sp>
        <p:nvSpPr>
          <p:cNvPr id="1048581"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583"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4"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585"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7" name="Shape 21"/>
        <p:cNvGrpSpPr/>
        <p:nvPr/>
      </p:nvGrpSpPr>
      <p:grpSpPr>
        <a:xfrm>
          <a:off x="0" y="0"/>
          <a:ext cx="0" cy="0"/>
          <a:chOff x="0" y="0"/>
          <a:chExt cx="0" cy="0"/>
        </a:xfrm>
      </p:grpSpPr>
      <p:sp>
        <p:nvSpPr>
          <p:cNvPr id="104861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1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1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7" name="Shape 25"/>
        <p:cNvGrpSpPr/>
        <p:nvPr/>
      </p:nvGrpSpPr>
      <p:grpSpPr>
        <a:xfrm>
          <a:off x="0" y="0"/>
          <a:ext cx="0" cy="0"/>
          <a:chOff x="0" y="0"/>
          <a:chExt cx="0" cy="0"/>
        </a:xfrm>
      </p:grpSpPr>
      <p:sp>
        <p:nvSpPr>
          <p:cNvPr id="1048628"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29"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630"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31"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048632"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33"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4"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35"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9" name="Shape 34"/>
        <p:cNvGrpSpPr/>
        <p:nvPr/>
      </p:nvGrpSpPr>
      <p:grpSpPr>
        <a:xfrm>
          <a:off x="0" y="0"/>
          <a:ext cx="0" cy="0"/>
          <a:chOff x="0" y="0"/>
          <a:chExt cx="0" cy="0"/>
        </a:xfrm>
      </p:grpSpPr>
      <p:sp>
        <p:nvSpPr>
          <p:cNvPr id="104870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4870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0" name="Shape 40"/>
        <p:cNvGrpSpPr/>
        <p:nvPr/>
      </p:nvGrpSpPr>
      <p:grpSpPr>
        <a:xfrm>
          <a:off x="0" y="0"/>
          <a:ext cx="0" cy="0"/>
          <a:chOff x="0" y="0"/>
          <a:chExt cx="0" cy="0"/>
        </a:xfrm>
      </p:grpSpPr>
      <p:sp>
        <p:nvSpPr>
          <p:cNvPr id="1048710"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11"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048712"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3"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4"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85" name="Shape 46"/>
        <p:cNvGrpSpPr/>
        <p:nvPr/>
      </p:nvGrpSpPr>
      <p:grpSpPr>
        <a:xfrm>
          <a:off x="0" y="0"/>
          <a:ext cx="0" cy="0"/>
          <a:chOff x="0" y="0"/>
          <a:chExt cx="0" cy="0"/>
        </a:xfrm>
      </p:grpSpPr>
      <p:sp>
        <p:nvSpPr>
          <p:cNvPr id="1048683"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4"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85"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86"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7"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88"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1" name="Shape 53"/>
        <p:cNvGrpSpPr/>
        <p:nvPr/>
      </p:nvGrpSpPr>
      <p:grpSpPr>
        <a:xfrm>
          <a:off x="0" y="0"/>
          <a:ext cx="0" cy="0"/>
          <a:chOff x="0" y="0"/>
          <a:chExt cx="0" cy="0"/>
        </a:xfrm>
      </p:grpSpPr>
      <p:sp>
        <p:nvSpPr>
          <p:cNvPr id="1048715"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16"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7"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18"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2" name="Shape 58"/>
        <p:cNvGrpSpPr/>
        <p:nvPr/>
      </p:nvGrpSpPr>
      <p:grpSpPr>
        <a:xfrm>
          <a:off x="0" y="0"/>
          <a:ext cx="0" cy="0"/>
          <a:chOff x="0" y="0"/>
          <a:chExt cx="0" cy="0"/>
        </a:xfrm>
      </p:grpSpPr>
      <p:sp>
        <p:nvSpPr>
          <p:cNvPr id="104871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2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104872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72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2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2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87" name="Shape 65"/>
        <p:cNvGrpSpPr/>
        <p:nvPr/>
      </p:nvGrpSpPr>
      <p:grpSpPr>
        <a:xfrm>
          <a:off x="0" y="0"/>
          <a:ext cx="0" cy="0"/>
          <a:chOff x="0" y="0"/>
          <a:chExt cx="0" cy="0"/>
        </a:xfrm>
      </p:grpSpPr>
      <p:sp>
        <p:nvSpPr>
          <p:cNvPr id="1048694"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5" name="Google Shape;67;p26"/>
          <p:cNvSpPr>
            <a:spLocks noGrp="1"/>
          </p:cNvSpPr>
          <p:nvPr>
            <p:ph type="pic" idx="2"/>
          </p:nvPr>
        </p:nvSpPr>
        <p:spPr>
          <a:xfrm>
            <a:off x="5183188" y="987425"/>
            <a:ext cx="6172200" cy="4873625"/>
          </a:xfrm>
          <a:prstGeom prst="rect">
            <a:avLst/>
          </a:prstGeom>
          <a:noFill/>
          <a:ln>
            <a:noFill/>
          </a:ln>
        </p:spPr>
      </p:sp>
      <p:sp>
        <p:nvSpPr>
          <p:cNvPr id="1048696"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048697"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8"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9"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88" name="Shape 72"/>
        <p:cNvGrpSpPr/>
        <p:nvPr/>
      </p:nvGrpSpPr>
      <p:grpSpPr>
        <a:xfrm>
          <a:off x="0" y="0"/>
          <a:ext cx="0" cy="0"/>
          <a:chOff x="0" y="0"/>
          <a:chExt cx="0" cy="0"/>
        </a:xfrm>
      </p:grpSpPr>
      <p:sp>
        <p:nvSpPr>
          <p:cNvPr id="1048700"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1"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702"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3"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704"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6" name="Shape 78"/>
        <p:cNvGrpSpPr/>
        <p:nvPr/>
      </p:nvGrpSpPr>
      <p:grpSpPr>
        <a:xfrm>
          <a:off x="0" y="0"/>
          <a:ext cx="0" cy="0"/>
          <a:chOff x="0" y="0"/>
          <a:chExt cx="0" cy="0"/>
        </a:xfrm>
      </p:grpSpPr>
      <p:sp>
        <p:nvSpPr>
          <p:cNvPr id="104868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p:txBody>
      </p:sp>
      <p:sp>
        <p:nvSpPr>
          <p:cNvPr id="104869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4869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lvl1pPr>
            <a:lvl2pPr marL="0" lvl="1" indent="0" algn="r">
              <a:spcBef>
                <a:spcPts val="0"/>
              </a:spcBef>
              <a:buNone/>
            </a:lvl2pPr>
            <a:lvl3pPr marL="0" lvl="2" indent="0" algn="r">
              <a:spcBef>
                <a:spcPts val="0"/>
              </a:spcBef>
              <a:buNone/>
            </a:lvl3pPr>
            <a:lvl4pPr marL="0" lvl="3" indent="0" algn="r">
              <a:spcBef>
                <a:spcPts val="0"/>
              </a:spcBef>
              <a:buNone/>
            </a:lvl4pPr>
            <a:lvl5pPr marL="0" lvl="4" indent="0" algn="r">
              <a:spcBef>
                <a:spcPts val="0"/>
              </a:spcBef>
              <a:buNone/>
            </a:lvl5pPr>
            <a:lvl6pPr marL="0" lvl="5" indent="0" algn="r">
              <a:spcBef>
                <a:spcPts val="0"/>
              </a:spcBef>
              <a:buNone/>
            </a:lvl6pPr>
            <a:lvl7pPr marL="0" lvl="6" indent="0" algn="r">
              <a:spcBef>
                <a:spcPts val="0"/>
              </a:spcBef>
              <a:buNone/>
            </a:lvl7pPr>
            <a:lvl8pPr marL="0" lvl="7" indent="0" algn="r">
              <a:spcBef>
                <a:spcPts val="0"/>
              </a:spcBef>
              <a:buNone/>
            </a:lvl8pPr>
            <a:lvl9pPr marL="0" lvl="8" indent="0" algn="r">
              <a:spcBef>
                <a:spcPts val="0"/>
              </a:spcBef>
              <a:buNone/>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9"/>
        <p:cNvGrpSpPr/>
        <p:nvPr/>
      </p:nvGrpSpPr>
      <p:grpSpPr>
        <a:xfrm>
          <a:off x="0" y="0"/>
          <a:ext cx="0" cy="0"/>
          <a:chOff x="0" y="0"/>
          <a:chExt cx="0" cy="0"/>
        </a:xfrm>
      </p:grpSpPr>
      <p:sp>
        <p:nvSpPr>
          <p:cNvPr id="1048576"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Shape 87"/>
        <p:cNvGrpSpPr/>
        <p:nvPr/>
      </p:nvGrpSpPr>
      <p:grpSpPr>
        <a:xfrm>
          <a:off x="0" y="0"/>
          <a:ext cx="0" cy="0"/>
          <a:chOff x="0" y="0"/>
          <a:chExt cx="0" cy="0"/>
        </a:xfrm>
      </p:grpSpPr>
      <p:sp>
        <p:nvSpPr>
          <p:cNvPr id="1048586" name="Google Shape;88;p1"/>
          <p:cNvSpPr txBox="1">
            <a:spLocks noGrp="1"/>
          </p:cNvSpPr>
          <p:nvPr>
            <p:ph type="body" idx="1"/>
          </p:nvPr>
        </p:nvSpPr>
        <p:spPr>
          <a:xfrm>
            <a:off x="261257" y="2159687"/>
            <a:ext cx="11636830" cy="4379225"/>
          </a:xfrm>
          <a:prstGeom prst="rect">
            <a:avLst/>
          </a:prstGeom>
          <a:noFill/>
          <a:ln>
            <a:noFill/>
          </a:ln>
        </p:spPr>
        <p:txBody>
          <a:bodyPr spcFirstLastPara="1" wrap="square" lIns="91425" tIns="45700" rIns="91425" bIns="45700" anchor="t" anchorCtr="0">
            <a:normAutofit/>
          </a:bodyPr>
          <a:p>
            <a:pPr marL="0" lvl="0" indent="0" algn="ctr" rtl="0">
              <a:lnSpc>
                <a:spcPct val="90000"/>
              </a:lnSpc>
              <a:spcBef>
                <a:spcPts val="1000"/>
              </a:spcBef>
              <a:spcAft>
                <a:spcPts val="0"/>
              </a:spcAft>
              <a:buClr>
                <a:schemeClr val="dk1"/>
              </a:buClr>
              <a:buSzPts val="3600"/>
              <a:buNone/>
            </a:pPr>
            <a:r>
              <a:rPr lang="en-US" sz="3600" b="1" dirty="0">
                <a:latin typeface="Arial Narrow" panose="020B0606020202030204"/>
                <a:ea typeface="Arial Narrow" panose="020B0606020202030204"/>
                <a:cs typeface="Arial Narrow" panose="020B0606020202030204"/>
                <a:sym typeface="Arial Narrow" panose="020B0606020202030204"/>
              </a:rPr>
              <a:t>DEPARTMENT OF COMPUTER SCIENCE AND ENGINEERING</a:t>
            </a:r>
            <a:endParaRPr dirty="0">
              <a:latin typeface="Arial Narrow" panose="020B0606020202030204"/>
              <a:ea typeface="Arial Narrow" panose="020B0606020202030204"/>
              <a:cs typeface="Arial Narrow" panose="020B0606020202030204"/>
              <a:sym typeface="Arial Narrow" panose="020B0606020202030204"/>
            </a:endParaRPr>
          </a:p>
          <a:p>
            <a:pPr marL="0" lvl="0" indent="0" algn="ctr">
              <a:buSzPts val="3600"/>
              <a:buNone/>
            </a:pPr>
            <a:r>
              <a:rPr lang="en-US" b="1" dirty="0">
                <a:latin typeface="Arial Narrow" panose="020B0606020202030204"/>
                <a:ea typeface="Arial Narrow" panose="020B0606020202030204"/>
                <a:cs typeface="Arial Narrow" panose="020B0606020202030204"/>
                <a:sym typeface="Arial Narrow" panose="020B0606020202030204"/>
              </a:rPr>
              <a:t>20CS7503 &amp; DESIGN PROJECT – III</a:t>
            </a:r>
            <a:endParaRPr lang="en-US" b="1" dirty="0">
              <a:latin typeface="Arial Narrow" panose="020B0606020202030204"/>
              <a:ea typeface="Arial Narrow" panose="020B0606020202030204"/>
              <a:cs typeface="Arial Narrow" panose="020B0606020202030204"/>
              <a:sym typeface="Arial Narrow" panose="020B0606020202030204"/>
            </a:endParaRPr>
          </a:p>
          <a:p>
            <a:pPr marL="0" lvl="0" indent="0" algn="ctr">
              <a:buSzPts val="3600"/>
              <a:buNone/>
            </a:pPr>
            <a:endParaRPr lang="en-US" b="1" dirty="0">
              <a:latin typeface="Arial Narrow" panose="020B0606020202030204"/>
              <a:sym typeface="Arial Narrow" panose="020B0606020202030204"/>
            </a:endParaRPr>
          </a:p>
          <a:p>
            <a:pPr marL="0" lvl="0" indent="0" algn="ctr">
              <a:buSzPts val="3600"/>
              <a:buNone/>
            </a:pPr>
            <a:r>
              <a:rPr lang="en-US" b="1" dirty="0"/>
              <a:t>END SEMESTER PRACTICAL EXAMINATION- NOV / DEC 2025</a:t>
            </a:r>
            <a:endParaRPr lang="en-US" dirty="0"/>
          </a:p>
          <a:p>
            <a:pPr marL="0" lvl="0" indent="0" algn="ctr" rtl="0">
              <a:lnSpc>
                <a:spcPct val="90000"/>
              </a:lnSpc>
              <a:spcBef>
                <a:spcPts val="1000"/>
              </a:spcBef>
              <a:spcAft>
                <a:spcPts val="0"/>
              </a:spcAft>
              <a:buClr>
                <a:schemeClr val="dk1"/>
              </a:buClr>
              <a:buSzPts val="2800"/>
              <a:buNone/>
            </a:pPr>
            <a:r>
              <a:rPr lang="en-US" b="1" u="sng" dirty="0">
                <a:latin typeface="Arial Narrow" panose="020B0606020202030204"/>
                <a:ea typeface="Arial Narrow" panose="020B0606020202030204"/>
                <a:cs typeface="Arial Narrow" panose="020B0606020202030204"/>
                <a:sym typeface="Arial Narrow" panose="020B0606020202030204"/>
              </a:rPr>
              <a:t>REVIEW PRESENTATION</a:t>
            </a:r>
            <a:endParaRPr dirty="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a:ea typeface="Arial Narrow" panose="020B0606020202030204"/>
                <a:cs typeface="Arial Narrow" panose="020B0606020202030204"/>
                <a:sym typeface="Arial Narrow" panose="020B0606020202030204"/>
              </a:rPr>
              <a:t>Batch No</a:t>
            </a:r>
            <a:r>
              <a:rPr lang="en-US" sz="2400" b="1" dirty="0">
                <a:latin typeface="Arial Narrow" panose="020B0606020202030204"/>
                <a:ea typeface="Arial Narrow" panose="020B0606020202030204"/>
                <a:cs typeface="Arial Narrow" panose="020B0606020202030204"/>
                <a:sym typeface="Arial Narrow" panose="020B0606020202030204"/>
              </a:rPr>
              <a:t>:</a:t>
            </a:r>
            <a:r>
              <a:rPr lang="en-US" sz="2400" b="1" dirty="0">
                <a:latin typeface="Arial Narrow" panose="020B0606020202030204"/>
                <a:ea typeface="Arial Narrow" panose="020B0606020202030204"/>
                <a:cs typeface="Arial Narrow" panose="020B0606020202030204"/>
                <a:sym typeface="Arial Narrow" panose="020B0606020202030204"/>
              </a:rPr>
              <a:t>3</a:t>
            </a:r>
            <a:endParaRPr lang="en-US" dirty="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a:ea typeface="Arial Narrow" panose="020B0606020202030204"/>
                <a:cs typeface="Arial Narrow" panose="020B0606020202030204"/>
                <a:sym typeface="Arial Narrow" panose="020B0606020202030204"/>
              </a:rPr>
              <a:t>Date</a:t>
            </a:r>
            <a:r>
              <a:rPr lang="en-US" sz="2400" b="1" dirty="0">
                <a:latin typeface="Arial Narrow" panose="020B0606020202030204"/>
                <a:ea typeface="Arial Narrow" panose="020B0606020202030204"/>
                <a:cs typeface="Arial Narrow" panose="020B0606020202030204"/>
                <a:sym typeface="Arial Narrow" panose="020B0606020202030204"/>
              </a:rPr>
              <a:t> </a:t>
            </a:r>
            <a:r>
              <a:rPr lang="en-US" sz="2400" b="1" dirty="0">
                <a:latin typeface="Arial Narrow" panose="020B0606020202030204"/>
                <a:ea typeface="Arial Narrow" panose="020B0606020202030204"/>
                <a:cs typeface="Arial Narrow" panose="020B0606020202030204"/>
                <a:sym typeface="Arial Narrow" panose="020B0606020202030204"/>
              </a:rPr>
              <a:t>:</a:t>
            </a:r>
            <a:r>
              <a:rPr lang="en-US" sz="2400" b="1" dirty="0">
                <a:latin typeface="Arial Narrow" panose="020B0606020202030204"/>
                <a:ea typeface="Arial Narrow" panose="020B0606020202030204"/>
                <a:cs typeface="Arial Narrow" panose="020B0606020202030204"/>
                <a:sym typeface="Arial Narrow" panose="020B0606020202030204"/>
              </a:rPr>
              <a:t>2</a:t>
            </a:r>
            <a:r>
              <a:rPr lang="en-US" sz="2400" b="1" dirty="0">
                <a:latin typeface="Arial Narrow" panose="020B0606020202030204"/>
                <a:ea typeface="Arial Narrow" panose="020B0606020202030204"/>
                <a:cs typeface="Arial Narrow" panose="020B0606020202030204"/>
                <a:sym typeface="Arial Narrow" panose="020B0606020202030204"/>
              </a:rPr>
              <a:t>9</a:t>
            </a:r>
            <a:r>
              <a:rPr lang="en-US" sz="2400" b="1" dirty="0">
                <a:latin typeface="Arial Narrow" panose="020B0606020202030204"/>
                <a:ea typeface="Arial Narrow" panose="020B0606020202030204"/>
                <a:cs typeface="Arial Narrow" panose="020B0606020202030204"/>
                <a:sym typeface="Arial Narrow" panose="020B0606020202030204"/>
              </a:rPr>
              <a:t>.</a:t>
            </a:r>
            <a:r>
              <a:rPr lang="en-US" sz="2400" b="1" dirty="0">
                <a:latin typeface="Arial Narrow" panose="020B0606020202030204"/>
                <a:ea typeface="Arial Narrow" panose="020B0606020202030204"/>
                <a:cs typeface="Arial Narrow" panose="020B0606020202030204"/>
                <a:sym typeface="Arial Narrow" panose="020B0606020202030204"/>
              </a:rPr>
              <a:t>1</a:t>
            </a:r>
            <a:r>
              <a:rPr lang="en-US" sz="2400" b="1" dirty="0">
                <a:latin typeface="Arial Narrow" panose="020B0606020202030204"/>
                <a:ea typeface="Arial Narrow" panose="020B0606020202030204"/>
                <a:cs typeface="Arial Narrow" panose="020B0606020202030204"/>
                <a:sym typeface="Arial Narrow" panose="020B0606020202030204"/>
              </a:rPr>
              <a:t>1</a:t>
            </a:r>
            <a:r>
              <a:rPr lang="en-US" sz="2400" b="1" dirty="0">
                <a:latin typeface="Arial Narrow" panose="020B0606020202030204"/>
                <a:ea typeface="Arial Narrow" panose="020B0606020202030204"/>
                <a:cs typeface="Arial Narrow" panose="020B0606020202030204"/>
                <a:sym typeface="Arial Narrow" panose="020B0606020202030204"/>
              </a:rPr>
              <a:t>.</a:t>
            </a:r>
            <a:r>
              <a:rPr lang="en-US" sz="2400" b="1" dirty="0">
                <a:latin typeface="Arial Narrow" panose="020B0606020202030204"/>
                <a:ea typeface="Arial Narrow" panose="020B0606020202030204"/>
                <a:cs typeface="Arial Narrow" panose="020B0606020202030204"/>
                <a:sym typeface="Arial Narrow" panose="020B0606020202030204"/>
              </a:rPr>
              <a:t>2</a:t>
            </a:r>
            <a:r>
              <a:rPr lang="en-US" sz="2400" b="1" dirty="0">
                <a:latin typeface="Arial Narrow" panose="020B0606020202030204"/>
                <a:ea typeface="Arial Narrow" panose="020B0606020202030204"/>
                <a:cs typeface="Arial Narrow" panose="020B0606020202030204"/>
                <a:sym typeface="Arial Narrow" panose="020B0606020202030204"/>
              </a:rPr>
              <a:t>5</a:t>
            </a:r>
            <a:endParaRPr lang="zh-CN" altLang="en-US"/>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a:ea typeface="Arial Narrow" panose="020B0606020202030204"/>
                <a:cs typeface="Arial Narrow" panose="020B0606020202030204"/>
                <a:sym typeface="Arial Narrow" panose="020B0606020202030204"/>
              </a:rPr>
              <a:t>Session:</a:t>
            </a:r>
            <a:r>
              <a:rPr lang="en-US" sz="2400" b="1" dirty="0">
                <a:latin typeface="Arial Narrow" panose="020B0606020202030204"/>
                <a:ea typeface="Arial Narrow" panose="020B0606020202030204"/>
                <a:cs typeface="Arial Narrow" panose="020B0606020202030204"/>
                <a:sym typeface="Arial Narrow" panose="020B0606020202030204"/>
              </a:rPr>
              <a:t>F</a:t>
            </a:r>
            <a:r>
              <a:rPr lang="en-US" sz="2400" b="1" dirty="0">
                <a:latin typeface="Arial Narrow" panose="020B0606020202030204"/>
                <a:ea typeface="Arial Narrow" panose="020B0606020202030204"/>
                <a:cs typeface="Arial Narrow" panose="020B0606020202030204"/>
                <a:sym typeface="Arial Narrow" panose="020B0606020202030204"/>
              </a:rPr>
              <a:t>N</a:t>
            </a:r>
            <a:endParaRPr b="1" dirty="0">
              <a:latin typeface="Arial Narrow" panose="020B0606020202030204"/>
              <a:ea typeface="Arial Narrow" panose="020B0606020202030204"/>
              <a:cs typeface="Arial Narrow" panose="020B0606020202030204"/>
              <a:sym typeface="Arial Narrow" panose="020B0606020202030204"/>
            </a:endParaRPr>
          </a:p>
        </p:txBody>
      </p:sp>
      <p:sp>
        <p:nvSpPr>
          <p:cNvPr id="1048587"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97152" name="Google Shape;91;p1"/>
          <p:cNvPicPr preferRelativeResize="0"/>
          <p:nvPr/>
        </p:nvPicPr>
        <p:blipFill>
          <a:blip r:embed="rId1"/>
          <a:srcRect l="16357" r="14907" b="8148"/>
          <a:stretch>
            <a:fillRect/>
          </a:stretch>
        </p:blipFill>
        <p:spPr>
          <a:xfrm>
            <a:off x="11215585" y="65332"/>
            <a:ext cx="903515" cy="511635"/>
          </a:xfrm>
          <a:prstGeom prst="rect">
            <a:avLst/>
          </a:prstGeom>
          <a:noFill/>
          <a:ln>
            <a:noFill/>
          </a:ln>
        </p:spPr>
      </p:pic>
      <p:pic>
        <p:nvPicPr>
          <p:cNvPr id="2097153" name="Picture 2"/>
          <p:cNvPicPr>
            <a:picLocks noChangeAspect="1"/>
          </p:cNvPicPr>
          <p:nvPr/>
        </p:nvPicPr>
        <p:blipFill>
          <a:blip r:embed="rId2"/>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5" name="Shape 95"/>
        <p:cNvGrpSpPr/>
        <p:nvPr/>
      </p:nvGrpSpPr>
      <p:grpSpPr>
        <a:xfrm>
          <a:off x="0" y="0"/>
          <a:ext cx="0" cy="0"/>
          <a:chOff x="0" y="0"/>
          <a:chExt cx="0" cy="0"/>
        </a:xfrm>
      </p:grpSpPr>
      <p:sp>
        <p:nvSpPr>
          <p:cNvPr id="1048590" name="Google Shape;96;p2"/>
          <p:cNvSpPr txBox="1">
            <a:spLocks noGrp="1"/>
          </p:cNvSpPr>
          <p:nvPr>
            <p:ph type="body" idx="1"/>
          </p:nvPr>
        </p:nvSpPr>
        <p:spPr>
          <a:xfrm>
            <a:off x="0" y="0"/>
            <a:ext cx="12119100" cy="792900"/>
          </a:xfrm>
          <a:prstGeom prst="rect">
            <a:avLst/>
          </a:prstGeom>
          <a:noFill/>
          <a:ln>
            <a:noFill/>
          </a:ln>
        </p:spPr>
        <p:txBody>
          <a:bodyPr spcFirstLastPara="1" wrap="square" lIns="91425" tIns="45700" rIns="91425" bIns="45700" anchor="t" anchorCtr="0">
            <a:normAutofit/>
          </a:bodyPr>
          <a:p>
            <a:pPr marL="0" lvl="0" indent="0" algn="ctr" rtl="0">
              <a:lnSpc>
                <a:spcPct val="90000"/>
              </a:lnSpc>
              <a:spcBef>
                <a:spcPts val="1000"/>
              </a:spcBef>
              <a:spcAft>
                <a:spcPts val="0"/>
              </a:spcAft>
              <a:buClr>
                <a:schemeClr val="dk1"/>
              </a:buClr>
              <a:buSzPts val="3600"/>
              <a:buNone/>
            </a:pPr>
            <a:r>
              <a:rPr lang="en-US" sz="3600" b="1" dirty="0">
                <a:latin typeface="Arial Narrow" panose="020B0606020202030204"/>
                <a:ea typeface="Arial Narrow" panose="020B0606020202030204"/>
                <a:cs typeface="Arial Narrow" panose="020B0606020202030204"/>
                <a:sym typeface="Arial Narrow" panose="020B0606020202030204"/>
              </a:rPr>
              <a:t>TITLE OF THE PROJECT</a:t>
            </a:r>
            <a:endParaRPr b="1" dirty="0">
              <a:latin typeface="Arial Narrow" panose="020B0606020202030204"/>
              <a:ea typeface="Arial Narrow" panose="020B0606020202030204"/>
              <a:cs typeface="Arial Narrow" panose="020B0606020202030204"/>
              <a:sym typeface="Arial Narrow" panose="020B0606020202030204"/>
            </a:endParaRPr>
          </a:p>
        </p:txBody>
      </p:sp>
      <p:sp>
        <p:nvSpPr>
          <p:cNvPr id="1048591"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92" name="Google Shape;98;p2"/>
          <p:cNvSpPr txBox="1">
            <a:spLocks noGrp="1"/>
          </p:cNvSpPr>
          <p:nvPr>
            <p:ph type="body" idx="1"/>
          </p:nvPr>
        </p:nvSpPr>
        <p:spPr>
          <a:xfrm>
            <a:off x="495817" y="3594414"/>
            <a:ext cx="3337791" cy="2724900"/>
          </a:xfrm>
          <a:prstGeom prst="rect">
            <a:avLst/>
          </a:prstGeom>
          <a:noFill/>
          <a:ln>
            <a:noFill/>
          </a:ln>
        </p:spPr>
        <p:txBody>
          <a:bodyPr spcFirstLastPara="1" wrap="square" lIns="91425" tIns="45700" rIns="91425" bIns="45700" anchor="t" anchorCtr="0">
            <a:normAutofit/>
          </a:bodyPr>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Guide Name:</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Mrs. M.SUR</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I</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Y</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Assistant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 </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Profess</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o</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r , </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CSE</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048593" name="Google Shape;99;p2"/>
          <p:cNvSpPr txBox="1">
            <a:spLocks noGrp="1"/>
          </p:cNvSpPr>
          <p:nvPr>
            <p:ph type="body" idx="1"/>
          </p:nvPr>
        </p:nvSpPr>
        <p:spPr>
          <a:xfrm>
            <a:off x="7386833" y="3631450"/>
            <a:ext cx="4612500" cy="2724900"/>
          </a:xfrm>
          <a:prstGeom prst="rect">
            <a:avLst/>
          </a:prstGeom>
          <a:noFill/>
          <a:ln>
            <a:noFill/>
          </a:ln>
        </p:spPr>
        <p:txBody>
          <a:bodyPr spcFirstLastPara="1" wrap="square" lIns="91425" tIns="45700" rIns="91425" bIns="45700" anchor="t" anchorCtr="0">
            <a:normAutofit/>
          </a:bodyPr>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Team Members:</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S</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H</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N</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S</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 </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8</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7</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0</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4</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7</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S</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H</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R</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V</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I</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NI</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S</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 </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8</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7</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0</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4</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4</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5</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H</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E</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N</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N</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RASI</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M</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 </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8</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7</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0</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4</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6</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8</a:t>
            </a:r>
            <a:r>
              <a:rPr lang="en-US" sz="2400" b="1" dirty="0">
                <a:latin typeface="Arial Narrow" panose="020B0606020202030204" pitchFamily="34" charset="0"/>
                <a:ea typeface="Times New Roman" panose="02020603050405020304"/>
                <a:cs typeface="Times New Roman" panose="02020603050405020304"/>
                <a:sym typeface="Times New Roman" panose="02020603050405020304"/>
              </a:rPr>
              <a:t>)</a:t>
            </a:r>
            <a:endParaRPr b="1" dirty="0">
              <a:latin typeface="Arial Narrow" panose="020B0606020202030204" pitchFamily="34" charset="0"/>
              <a:ea typeface="Times New Roman" panose="02020603050405020304"/>
              <a:cs typeface="Times New Roman" panose="02020603050405020304"/>
              <a:sym typeface="Times New Roman" panose="02020603050405020304"/>
            </a:endParaRPr>
          </a:p>
        </p:txBody>
      </p:sp>
      <p:sp>
        <p:nvSpPr>
          <p:cNvPr id="1048594" name="Text Box 1048593"/>
          <p:cNvSpPr txBox="1"/>
          <p:nvPr/>
        </p:nvSpPr>
        <p:spPr>
          <a:xfrm>
            <a:off x="953017" y="1196234"/>
            <a:ext cx="10425545" cy="583565"/>
          </a:xfrm>
          <a:prstGeom prst="rect">
            <a:avLst/>
          </a:prstGeom>
        </p:spPr>
        <p:txBody>
          <a:bodyPr wrap="square" rtlCol="0">
            <a:spAutoFit/>
          </a:bodyPr>
          <a:p>
            <a:r>
              <a:rPr lang="en-GB" sz="3200" b="1">
                <a:solidFill>
                  <a:srgbClr val="000000"/>
                </a:solidFill>
                <a:latin typeface="Arial Narrow" panose="020B0606020202030204" pitchFamily="34" charset="0"/>
                <a:cs typeface="Arial Narrow" panose="020B0606020202030204" pitchFamily="34" charset="0"/>
              </a:rPr>
              <a:t>AI-Powered Authorized Area Monitoring and Alert System</a:t>
            </a:r>
            <a:endParaRPr lang="en-GB" sz="3200" b="1">
              <a:solidFill>
                <a:srgbClr val="000000"/>
              </a:solidFill>
              <a:latin typeface="Arial Narrow" panose="020B0606020202030204" pitchFamily="34" charset="0"/>
              <a:cs typeface="Arial Narrow" panose="020B0606020202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8" name="Shape 103"/>
        <p:cNvGrpSpPr/>
        <p:nvPr/>
      </p:nvGrpSpPr>
      <p:grpSpPr>
        <a:xfrm>
          <a:off x="0" y="0"/>
          <a:ext cx="0" cy="0"/>
          <a:chOff x="0" y="0"/>
          <a:chExt cx="0" cy="0"/>
        </a:xfrm>
      </p:grpSpPr>
      <p:sp>
        <p:nvSpPr>
          <p:cNvPr id="1048597" name="Google Shape;104;p3"/>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p>
            <a:pPr marL="0" lvl="0" indent="0" algn="ctr" rtl="0">
              <a:lnSpc>
                <a:spcPct val="90000"/>
              </a:lnSpc>
              <a:spcBef>
                <a:spcPts val="0"/>
              </a:spcBef>
              <a:spcAft>
                <a:spcPts val="0"/>
              </a:spcAft>
              <a:buClr>
                <a:schemeClr val="dk1"/>
              </a:buClr>
              <a:buSzPts val="4400"/>
              <a:buFont typeface="Times New Roman" panose="02020603050405020304"/>
              <a:buNone/>
            </a:pPr>
            <a:r>
              <a:rPr lang="en-US" sz="4000" b="1">
                <a:latin typeface="Arial Narrow" panose="020B0606020202030204"/>
                <a:ea typeface="Arial Narrow" panose="020B0606020202030204"/>
                <a:cs typeface="Arial Narrow" panose="020B0606020202030204"/>
                <a:sym typeface="Arial Narrow" panose="020B0606020202030204"/>
              </a:rPr>
              <a:t>OBJECTIVE OF THE PROJECT</a:t>
            </a:r>
            <a:endParaRPr lang="en-US" sz="4000" b="1">
              <a:latin typeface="Arial Narrow" panose="020B0606020202030204"/>
              <a:ea typeface="Arial Narrow" panose="020B0606020202030204"/>
              <a:cs typeface="Arial Narrow" panose="020B0606020202030204"/>
              <a:sym typeface="Arial Narrow" panose="020B0606020202030204"/>
            </a:endParaRPr>
          </a:p>
        </p:txBody>
      </p:sp>
      <p:sp>
        <p:nvSpPr>
          <p:cNvPr id="1048598" name="Google Shape;105;p3"/>
          <p:cNvSpPr txBox="1">
            <a:spLocks noGrp="1"/>
          </p:cNvSpPr>
          <p:nvPr>
            <p:ph type="body" idx="1"/>
          </p:nvPr>
        </p:nvSpPr>
        <p:spPr>
          <a:xfrm>
            <a:off x="838200" y="1297305"/>
            <a:ext cx="10515600" cy="4391025"/>
          </a:xfrm>
          <a:prstGeom prst="rect">
            <a:avLst/>
          </a:prstGeom>
          <a:noFill/>
          <a:ln>
            <a:noFill/>
          </a:ln>
        </p:spPr>
        <p:txBody>
          <a:bodyPr spcFirstLastPara="1" wrap="square" lIns="91425" tIns="45700" rIns="91425" bIns="45700" anchor="t" anchorCtr="0">
            <a:noAutofit/>
          </a:bodyPr>
          <a:p>
            <a:pPr marL="0" lvl="0" indent="0" algn="l" rtl="0">
              <a:lnSpc>
                <a:spcPct val="90000"/>
              </a:lnSpc>
              <a:spcBef>
                <a:spcPts val="0"/>
              </a:spcBef>
              <a:spcAft>
                <a:spcPts val="0"/>
              </a:spcAft>
              <a:buClr>
                <a:srgbClr val="FF0000"/>
              </a:buClr>
              <a:buSzPts val="2800"/>
              <a:buNone/>
            </a:pPr>
            <a:endParaRPr sz="1800">
              <a:latin typeface="Calibri" panose="020F0502020204030204" charset="0"/>
              <a:ea typeface="Droid Sans Fallback"/>
              <a:cs typeface="Calibri" panose="020F050202020403020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sz="1800">
              <a:latin typeface="+mn-ea"/>
              <a:ea typeface="Droid Sans Fallback"/>
              <a:cs typeface="+mn-ea"/>
              <a:sym typeface="Arial Narrow" panose="020B0606020202030204"/>
            </a:endParaRPr>
          </a:p>
        </p:txBody>
      </p:sp>
      <p:sp>
        <p:nvSpPr>
          <p:cNvPr id="1048599"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2" name="Text Box 1"/>
          <p:cNvSpPr txBox="1"/>
          <p:nvPr/>
        </p:nvSpPr>
        <p:spPr>
          <a:xfrm>
            <a:off x="765175" y="1799590"/>
            <a:ext cx="10588625" cy="3794760"/>
          </a:xfrm>
          <a:prstGeom prst="rect">
            <a:avLst/>
          </a:prstGeom>
          <a:noFill/>
        </p:spPr>
        <p:txBody>
          <a:bodyPr wrap="square" rtlCol="0">
            <a:noAutofit/>
          </a:bodyPr>
          <a:p>
            <a:pPr marL="0" lvl="0" indent="0" algn="l" rtl="0">
              <a:lnSpc>
                <a:spcPct val="90000"/>
              </a:lnSpc>
              <a:spcBef>
                <a:spcPts val="0"/>
              </a:spcBef>
              <a:spcAft>
                <a:spcPts val="0"/>
              </a:spcAft>
              <a:buClr>
                <a:srgbClr val="FF0000"/>
              </a:buClr>
              <a:buSzPts val="2800"/>
              <a:buNone/>
            </a:pPr>
            <a:r>
              <a:rPr sz="2800">
                <a:latin typeface="Arial Narrow" panose="020B0606020202030204" pitchFamily="34" charset="0"/>
                <a:ea typeface="Droid Sans Fallback"/>
                <a:cs typeface="Arial Narrow" panose="020B0606020202030204" pitchFamily="34" charset="0"/>
                <a:sym typeface="Arial Narrow" panose="020B0606020202030204"/>
              </a:rPr>
              <a:t>- Develop an intelligent security system that uses YOLOv8 for real-time detection of unauthorized objects and individuals within restricted areas</a:t>
            </a:r>
            <a:r>
              <a:rPr lang="en-US" sz="2800">
                <a:latin typeface="Arial Narrow" panose="020B0606020202030204" pitchFamily="34" charset="0"/>
                <a:ea typeface="Droid Sans Fallback"/>
                <a:cs typeface="Arial Narrow" panose="020B0606020202030204" pitchFamily="34" charset="0"/>
                <a:sym typeface="Arial Narrow" panose="020B0606020202030204"/>
              </a:rPr>
              <a:t>.</a:t>
            </a:r>
            <a:endParaRPr sz="2800">
              <a:latin typeface="Arial Narrow" panose="020B0606020202030204" pitchFamily="34" charset="0"/>
              <a:ea typeface="Droid Sans Fallback"/>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sz="2800">
              <a:latin typeface="Arial Narrow" panose="020B0606020202030204" pitchFamily="34" charset="0"/>
              <a:ea typeface="Droid Sans Fallback"/>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r>
              <a:rPr sz="2800">
                <a:latin typeface="Arial Narrow" panose="020B0606020202030204" pitchFamily="34" charset="0"/>
                <a:ea typeface="Droid Sans Fallback"/>
                <a:cs typeface="Arial Narrow" panose="020B0606020202030204" pitchFamily="34" charset="0"/>
                <a:sym typeface="Arial Narrow" panose="020B0606020202030204"/>
              </a:rPr>
              <a:t>- Automate the process of monitoring by reducing reliance on manual human supervision and traditional CCTV setups</a:t>
            </a:r>
            <a:r>
              <a:rPr lang="en-US" sz="2800">
                <a:latin typeface="Arial Narrow" panose="020B0606020202030204" pitchFamily="34" charset="0"/>
                <a:ea typeface="Droid Sans Fallback"/>
                <a:cs typeface="Arial Narrow" panose="020B0606020202030204" pitchFamily="34" charset="0"/>
                <a:sym typeface="Arial Narrow" panose="020B0606020202030204"/>
              </a:rPr>
              <a:t>.</a:t>
            </a:r>
            <a:endParaRPr sz="2800">
              <a:latin typeface="Arial Narrow" panose="020B0606020202030204" pitchFamily="34" charset="0"/>
              <a:ea typeface="Droid Sans Fallback"/>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sz="2800">
              <a:latin typeface="Arial Narrow" panose="020B0606020202030204" pitchFamily="34" charset="0"/>
              <a:ea typeface="Droid Sans Fallback"/>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r>
              <a:rPr sz="2800">
                <a:latin typeface="Arial Narrow" panose="020B0606020202030204" pitchFamily="34" charset="0"/>
                <a:ea typeface="Droid Sans Fallback"/>
                <a:cs typeface="Arial Narrow" panose="020B0606020202030204" pitchFamily="34" charset="0"/>
                <a:sym typeface="Arial Narrow" panose="020B0606020202030204"/>
              </a:rPr>
              <a:t>- Instantly alert security personnel via email and audio alarms whenever prohibited objects are detected in the monitored zone.</a:t>
            </a:r>
            <a:endParaRPr sz="2800">
              <a:latin typeface="Arial Narrow" panose="020B0606020202030204" pitchFamily="34" charset="0"/>
              <a:ea typeface="Droid Sans Fallback"/>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sz="2800">
              <a:latin typeface="Arial Narrow" panose="020B0606020202030204" pitchFamily="34" charset="0"/>
              <a:ea typeface="Droid Sans Fallback"/>
              <a:cs typeface="Arial Narrow" panose="020B0606020202030204" pitchFamily="34" charset="0"/>
              <a:sym typeface="Arial Narrow" panose="020B0606020202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1" name="Shape 110"/>
        <p:cNvGrpSpPr/>
        <p:nvPr/>
      </p:nvGrpSpPr>
      <p:grpSpPr>
        <a:xfrm>
          <a:off x="0" y="0"/>
          <a:ext cx="0" cy="0"/>
          <a:chOff x="0" y="0"/>
          <a:chExt cx="0" cy="0"/>
        </a:xfrm>
      </p:grpSpPr>
      <p:sp>
        <p:nvSpPr>
          <p:cNvPr id="1048602" name="Google Shape;111;p4"/>
          <p:cNvSpPr txBox="1">
            <a:spLocks noGrp="1"/>
          </p:cNvSpPr>
          <p:nvPr>
            <p:ph type="title"/>
          </p:nvPr>
        </p:nvSpPr>
        <p:spPr>
          <a:xfrm>
            <a:off x="0" y="0"/>
            <a:ext cx="12192000" cy="810000"/>
          </a:xfrm>
          <a:prstGeom prst="rect">
            <a:avLst/>
          </a:prstGeom>
          <a:noFill/>
          <a:ln>
            <a:noFill/>
          </a:ln>
        </p:spPr>
        <p:txBody>
          <a:bodyPr spcFirstLastPara="1" wrap="square" lIns="91425" tIns="45700" rIns="91425" bIns="45700" anchor="ctr" anchorCtr="0">
            <a:normAutofit/>
          </a:bodyPr>
          <a:p>
            <a:pPr marL="0" lvl="0" indent="0" algn="ctr" rtl="0">
              <a:lnSpc>
                <a:spcPct val="90000"/>
              </a:lnSpc>
              <a:spcBef>
                <a:spcPts val="0"/>
              </a:spcBef>
              <a:spcAft>
                <a:spcPts val="0"/>
              </a:spcAft>
              <a:buClr>
                <a:schemeClr val="dk1"/>
              </a:buClr>
              <a:buSzPts val="4400"/>
              <a:buFont typeface="Times New Roman" panose="02020603050405020304"/>
              <a:buNone/>
            </a:pPr>
            <a:r>
              <a:rPr lang="en-US" sz="4000" b="1">
                <a:latin typeface="Arial Narrow" panose="020B0606020202030204"/>
                <a:ea typeface="Arial Narrow" panose="020B0606020202030204"/>
                <a:cs typeface="Arial Narrow" panose="020B0606020202030204"/>
                <a:sym typeface="Arial Narrow" panose="020B0606020202030204"/>
              </a:rPr>
              <a:t>INTRODUCTION</a:t>
            </a:r>
            <a:endParaRPr lang="en-US" sz="4000" b="1">
              <a:latin typeface="Arial Narrow" panose="020B0606020202030204"/>
              <a:ea typeface="Arial Narrow" panose="020B0606020202030204"/>
              <a:cs typeface="Arial Narrow" panose="020B0606020202030204"/>
              <a:sym typeface="Arial Narrow" panose="020B0606020202030204"/>
            </a:endParaRPr>
          </a:p>
        </p:txBody>
      </p:sp>
      <p:sp>
        <p:nvSpPr>
          <p:cNvPr id="1048603" name="Google Shape;112;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p>
            <a:pPr marL="0" lvl="0" indent="0" algn="l" rtl="0">
              <a:lnSpc>
                <a:spcPct val="90000"/>
              </a:lnSpc>
              <a:spcBef>
                <a:spcPts val="0"/>
              </a:spcBef>
              <a:spcAft>
                <a:spcPts val="0"/>
              </a:spcAft>
              <a:buClr>
                <a:srgbClr val="FF0000"/>
              </a:buClr>
              <a:buSzPts val="2800"/>
              <a:buNone/>
            </a:pPr>
            <a:r>
              <a:rPr lang="en-US">
                <a:latin typeface="Arial Narrow" panose="020B0606020202030204" pitchFamily="34" charset="0"/>
                <a:ea typeface="Arial Narrow" panose="020B0606020202030204"/>
                <a:cs typeface="Arial Narrow" panose="020B0606020202030204" pitchFamily="34" charset="0"/>
                <a:sym typeface="Arial Narrow" panose="020B0606020202030204"/>
              </a:rPr>
              <a:t>1.</a:t>
            </a:r>
            <a:r>
              <a:rPr>
                <a:latin typeface="Arial Narrow" panose="020B0606020202030204" pitchFamily="34" charset="0"/>
                <a:ea typeface="Arial Narrow" panose="020B0606020202030204"/>
                <a:cs typeface="Arial Narrow" panose="020B0606020202030204" pitchFamily="34" charset="0"/>
                <a:sym typeface="Arial Narrow" panose="020B0606020202030204"/>
              </a:rPr>
              <a:t> Security and surveillance are essential in modern society, especially in sensitive environments such as educational institutions, corporate offices, and research labs.</a:t>
            </a:r>
            <a:endParaRPr>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r>
              <a:rPr lang="en-US">
                <a:latin typeface="Arial Narrow" panose="020B0606020202030204" pitchFamily="34" charset="0"/>
                <a:ea typeface="Arial Narrow" panose="020B0606020202030204"/>
                <a:cs typeface="Arial Narrow" panose="020B0606020202030204" pitchFamily="34" charset="0"/>
                <a:sym typeface="Arial Narrow" panose="020B0606020202030204"/>
              </a:rPr>
              <a:t>2.</a:t>
            </a:r>
            <a:r>
              <a:rPr>
                <a:latin typeface="Arial Narrow" panose="020B0606020202030204" pitchFamily="34" charset="0"/>
                <a:ea typeface="Arial Narrow" panose="020B0606020202030204"/>
                <a:cs typeface="Arial Narrow" panose="020B0606020202030204" pitchFamily="34" charset="0"/>
                <a:sym typeface="Arial Narrow" panose="020B0606020202030204"/>
              </a:rPr>
              <a:t>Traditional surveillance systems, which depend on manual observation, are prone to errors, fatigue, and slow response, creating the need for more intelligent solutions.</a:t>
            </a:r>
            <a:endParaRPr>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r>
              <a:rPr lang="en-US">
                <a:latin typeface="Arial Narrow" panose="020B0606020202030204" pitchFamily="34" charset="0"/>
                <a:ea typeface="Arial Narrow" panose="020B0606020202030204"/>
                <a:cs typeface="Arial Narrow" panose="020B0606020202030204" pitchFamily="34" charset="0"/>
                <a:sym typeface="Arial Narrow" panose="020B0606020202030204"/>
              </a:rPr>
              <a:t>3.</a:t>
            </a:r>
            <a:r>
              <a:rPr>
                <a:latin typeface="Arial Narrow" panose="020B0606020202030204" pitchFamily="34" charset="0"/>
                <a:ea typeface="Arial Narrow" panose="020B0606020202030204"/>
                <a:cs typeface="Arial Narrow" panose="020B0606020202030204" pitchFamily="34" charset="0"/>
                <a:sym typeface="Arial Narrow" panose="020B0606020202030204"/>
              </a:rPr>
              <a:t>AI-based object detection, particularly using deep learning models like YOLOv8, offers significant advantages in accuracy and automation for real-time monitoring.</a:t>
            </a:r>
            <a:endParaRPr>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endParaRPr dirty="0">
              <a:latin typeface="Arial Narrow" panose="020B0606020202030204" pitchFamily="34" charset="0"/>
              <a:ea typeface="Arial Narrow" panose="020B0606020202030204"/>
              <a:cs typeface="Arial Narrow" panose="020B0606020202030204" pitchFamily="34" charset="0"/>
              <a:sym typeface="Arial Narrow" panose="020B0606020202030204"/>
            </a:endParaRPr>
          </a:p>
        </p:txBody>
      </p:sp>
      <p:sp>
        <p:nvSpPr>
          <p:cNvPr id="1048604"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4" name="Shape 117"/>
        <p:cNvGrpSpPr/>
        <p:nvPr/>
      </p:nvGrpSpPr>
      <p:grpSpPr>
        <a:xfrm>
          <a:off x="0" y="0"/>
          <a:ext cx="0" cy="0"/>
          <a:chOff x="0" y="0"/>
          <a:chExt cx="0" cy="0"/>
        </a:xfrm>
      </p:grpSpPr>
      <p:sp>
        <p:nvSpPr>
          <p:cNvPr id="1048607"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p>
            <a:pPr marL="0" marR="0" lvl="0" indent="0" algn="r" rtl="0">
              <a:spcBef>
                <a:spcPts val="0"/>
              </a:spcBef>
              <a:spcAft>
                <a:spcPts val="0"/>
              </a:spcAft>
              <a:buNone/>
            </a:pPr>
            <a:endPara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endParaRPr>
          </a:p>
        </p:txBody>
      </p:sp>
      <p:sp>
        <p:nvSpPr>
          <p:cNvPr id="1048608"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09"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p>
            <a:pPr marL="0" marR="0" lvl="0" indent="0" algn="ctr" rtl="0">
              <a:spcBef>
                <a:spcPts val="0"/>
              </a:spcBef>
              <a:spcAft>
                <a:spcPts val="0"/>
              </a:spcAft>
              <a:buNone/>
            </a:pPr>
            <a:r>
              <a:rPr lang="en-US" sz="4000" b="1">
                <a:solidFill>
                  <a:schemeClr val="dk1"/>
                </a:solidFill>
                <a:latin typeface="Arial Narrow" panose="020B0606020202030204"/>
                <a:ea typeface="Arial Narrow" panose="020B0606020202030204"/>
                <a:cs typeface="Arial Narrow" panose="020B0606020202030204"/>
                <a:sym typeface="Arial Narrow" panose="020B0606020202030204"/>
              </a:rPr>
              <a:t>LITERATURE SURVEY</a:t>
            </a:r>
            <a:endParaRPr>
              <a:latin typeface="Arial Narrow" panose="020B0606020202030204"/>
              <a:ea typeface="Arial Narrow" panose="020B0606020202030204"/>
              <a:cs typeface="Arial Narrow" panose="020B0606020202030204"/>
              <a:sym typeface="Arial Narrow" panose="020B0606020202030204"/>
            </a:endParaRPr>
          </a:p>
        </p:txBody>
      </p:sp>
      <p:graphicFrame>
        <p:nvGraphicFramePr>
          <p:cNvPr id="4194304" name="Google Shape;121;p5"/>
          <p:cNvGraphicFramePr/>
          <p:nvPr>
            <p:custDataLst>
              <p:tags r:id="rId1"/>
            </p:custDataLst>
          </p:nvPr>
        </p:nvGraphicFramePr>
        <p:xfrm>
          <a:off x="0" y="708025"/>
          <a:ext cx="12192000" cy="6501765"/>
        </p:xfrm>
        <a:graphic>
          <a:graphicData uri="http://schemas.openxmlformats.org/drawingml/2006/table">
            <a:tbl>
              <a:tblPr firstRow="1" bandRow="1">
                <a:noFill/>
                <a:tableStyleId>{3CDD818E-ADFA-4579-856F-A3140DA02BD1}</a:tableStyleId>
              </a:tblPr>
              <a:tblGrid>
                <a:gridCol w="2941320"/>
                <a:gridCol w="3112770"/>
                <a:gridCol w="3027680"/>
                <a:gridCol w="3110230"/>
              </a:tblGrid>
              <a:tr h="365760">
                <a:tc>
                  <a:txBody>
                    <a:bodyPr/>
                    <a:p>
                      <a:pPr marL="0" marR="0" lvl="0" indent="0" algn="ctr" rtl="0">
                        <a:spcBef>
                          <a:spcPts val="0"/>
                        </a:spcBef>
                        <a:spcAft>
                          <a:spcPts val="0"/>
                        </a:spcAft>
                        <a:buNone/>
                      </a:pPr>
                      <a:r>
                        <a:rPr lang="en-US"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rPr>
                        <a:t>TITLE OF PAPER</a:t>
                      </a:r>
                      <a:endParaRPr lang="en-US"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lang="en-US" sz="2800" dirty="0">
                          <a:solidFill>
                            <a:schemeClr val="dk1"/>
                          </a:solidFill>
                          <a:latin typeface="Arial Narrow" panose="020B0606020202030204"/>
                          <a:ea typeface="Arial Narrow" panose="020B0606020202030204"/>
                          <a:cs typeface="Arial Narrow" panose="020B0606020202030204"/>
                          <a:sym typeface="Arial Narrow" panose="020B0606020202030204"/>
                        </a:rPr>
                        <a:t>AUTHOR(S)</a:t>
                      </a:r>
                      <a:endParaRPr lang="en-US"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lang="en-US"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rPr>
                        <a:t>PAPER GIST</a:t>
                      </a:r>
                      <a:endParaRPr lang="en-US"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TECHNOLOGY USED</a:t>
                      </a:r>
                      <a:endPar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1370330">
                <a:tc>
                  <a:txBody>
                    <a:bodyPr/>
                    <a:p>
                      <a:pPr marL="0" marR="0" lvl="0" indent="0" algn="ctr" rtl="0">
                        <a:spcBef>
                          <a:spcPts val="0"/>
                        </a:spcBef>
                        <a:spcAft>
                          <a:spcPts val="0"/>
                        </a:spcAft>
                        <a:buNone/>
                      </a:pPr>
                      <a:r>
                        <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Visual interpretation of motion patterns for security surveillance systems</a:t>
                      </a:r>
                      <a:endPar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V. Pavlovic, R. Sharma, T. Huang</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Analysis of motion patterns to recognize actions and enhance automated security surveillance</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Computer vision, motion analysis, pattern recognition</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1109345">
                <a:tc>
                  <a:txBody>
                    <a:bodyPr/>
                    <a:p>
                      <a:pPr marL="0" marR="0" lvl="0" indent="0" algn="ctr" rtl="0">
                        <a:spcBef>
                          <a:spcPts val="0"/>
                        </a:spcBef>
                        <a:spcAft>
                          <a:spcPts val="0"/>
                        </a:spcAft>
                        <a:buNone/>
                      </a:pPr>
                      <a:r>
                        <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A survey of computer vision‑assisted surveillance</a:t>
                      </a:r>
                      <a:endParaRPr lang="en-US"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R. T. Azuma</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Overview of computer vision techniques for surveillance and real-time monitoring</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Computer vision, motion tracking, environment modeling</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1370330">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Rapid object detection using a boosted cascade of simple features forreal‑time surveillance</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rPr>
                        <a:t>P. Viola, M. Jones</a:t>
                      </a:r>
                      <a:endParaRPr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Fast object detection using cascaded classifiers and simple features for real-time applications</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r>
                        <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rPr>
                        <a:t>Haar-like features, AdaBoost, cascaded classifiers</a:t>
                      </a: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457200">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457200">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457200">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457200">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r h="457200">
                <a:tc>
                  <a:txBody>
                    <a:bodyPr/>
                    <a:p>
                      <a:pPr marL="0" marR="0" lvl="0" indent="0" algn="ctr" rtl="0">
                        <a:spcBef>
                          <a:spcPts val="0"/>
                        </a:spcBef>
                        <a:spcAft>
                          <a:spcPts val="0"/>
                        </a:spcAft>
                        <a:buNone/>
                      </a:pPr>
                      <a:endParaRPr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c>
                  <a:txBody>
                    <a:bodyPr/>
                    <a:p>
                      <a:pPr marL="0" marR="0" lvl="0" indent="0" algn="ctr" rtl="0">
                        <a:spcBef>
                          <a:spcPts val="0"/>
                        </a:spcBef>
                        <a:spcAft>
                          <a:spcPts val="0"/>
                        </a:spcAft>
                        <a:buNone/>
                      </a:pPr>
                      <a:endParaRPr sz="2800" u="none" strike="noStrike" cap="none" dirty="0">
                        <a:solidFill>
                          <a:schemeClr val="dk1"/>
                        </a:solidFill>
                        <a:latin typeface="Arial Narrow" panose="020B0606020202030204"/>
                        <a:ea typeface="Arial Narrow" panose="020B0606020202030204"/>
                        <a:cs typeface="Arial Narrow" panose="020B0606020202030204"/>
                        <a:sym typeface="Arial Narrow" panose="020B0606020202030204"/>
                      </a:endParaRPr>
                    </a:p>
                  </a:txBody>
                  <a:tcPr marL="91450" marR="91450" marT="45725" marB="457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8" name="Shape 125"/>
        <p:cNvGrpSpPr/>
        <p:nvPr/>
      </p:nvGrpSpPr>
      <p:grpSpPr>
        <a:xfrm>
          <a:off x="0" y="0"/>
          <a:ext cx="0" cy="0"/>
          <a:chOff x="0" y="0"/>
          <a:chExt cx="0" cy="0"/>
        </a:xfrm>
      </p:grpSpPr>
      <p:sp>
        <p:nvSpPr>
          <p:cNvPr id="1048615"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16"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panose="020B0606020202030204"/>
                <a:ea typeface="Arial Narrow" panose="020B0606020202030204"/>
                <a:cs typeface="Arial Narrow" panose="020B0606020202030204"/>
              </a:defRPr>
            </a:lvl1pPr>
          </a:lstStyle>
          <a:p>
            <a:r>
              <a:rPr lang="en-US" dirty="0">
                <a:sym typeface="Arial Narrow" panose="020B0606020202030204"/>
              </a:rPr>
              <a:t>EXISTING SYSTEM </a:t>
            </a:r>
            <a:r>
              <a:rPr lang="en-US" dirty="0"/>
              <a:t>ARCHITECTURE</a:t>
            </a:r>
            <a:endParaRPr dirty="0">
              <a:sym typeface="Arial Narrow" panose="020B0606020202030204"/>
            </a:endParaRPr>
          </a:p>
        </p:txBody>
      </p:sp>
      <p:pic>
        <p:nvPicPr>
          <p:cNvPr id="2097155" name="Picture 2097154"/>
          <p:cNvPicPr/>
          <p:nvPr/>
        </p:nvPicPr>
        <p:blipFill>
          <a:blip r:embed="rId1"/>
          <a:stretch>
            <a:fillRect/>
          </a:stretch>
        </p:blipFill>
        <p:spPr>
          <a:xfrm>
            <a:off x="981363" y="900700"/>
            <a:ext cx="10229273" cy="5056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1" name="Shape 125"/>
        <p:cNvGrpSpPr/>
        <p:nvPr/>
      </p:nvGrpSpPr>
      <p:grpSpPr>
        <a:xfrm>
          <a:off x="0" y="0"/>
          <a:ext cx="0" cy="0"/>
          <a:chOff x="0" y="0"/>
          <a:chExt cx="0" cy="0"/>
        </a:xfrm>
      </p:grpSpPr>
      <p:sp>
        <p:nvSpPr>
          <p:cNvPr id="1048619"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20"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panose="020B0606020202030204"/>
                <a:ea typeface="Arial Narrow" panose="020B0606020202030204"/>
                <a:cs typeface="Arial Narrow" panose="020B0606020202030204"/>
              </a:defRPr>
            </a:lvl1pPr>
          </a:lstStyle>
          <a:p>
            <a:r>
              <a:rPr lang="en-US" dirty="0">
                <a:sym typeface="Arial Narrow" panose="020B0606020202030204"/>
              </a:rPr>
              <a:t>PROBLEM IDENTIFICAITON</a:t>
            </a:r>
            <a:endParaRPr dirty="0">
              <a:sym typeface="Arial Narrow" panose="020B0606020202030204"/>
            </a:endParaRPr>
          </a:p>
        </p:txBody>
      </p:sp>
      <p:sp>
        <p:nvSpPr>
          <p:cNvPr id="1048621" name="TextBox 2"/>
          <p:cNvSpPr txBox="1"/>
          <p:nvPr/>
        </p:nvSpPr>
        <p:spPr>
          <a:xfrm>
            <a:off x="740410" y="1358265"/>
            <a:ext cx="10788015" cy="3747135"/>
          </a:xfrm>
          <a:prstGeom prst="rect">
            <a:avLst/>
          </a:prstGeom>
          <a:noFill/>
        </p:spPr>
        <p:txBody>
          <a:bodyPr wrap="square">
            <a:noAutofit/>
          </a:bodyPr>
          <a:p>
            <a:pPr marL="0" lvl="0" indent="0" algn="l" rtl="0">
              <a:lnSpc>
                <a:spcPct val="90000"/>
              </a:lnSpc>
              <a:spcBef>
                <a:spcPts val="0"/>
              </a:spcBef>
              <a:spcAft>
                <a:spcPts val="0"/>
              </a:spcAft>
              <a:buClr>
                <a:schemeClr val="dk1"/>
              </a:buClr>
              <a:buSzPts val="2800"/>
              <a:buNone/>
            </a:pPr>
            <a:r>
              <a:rPr lang="en-US" sz="2800" dirty="0">
                <a:latin typeface="Arial Narrow" panose="020B0606020202030204" pitchFamily="34" charset="0"/>
                <a:cs typeface="Arial Narrow" panose="020B0606020202030204" pitchFamily="34" charset="0"/>
              </a:rPr>
              <a:t>1.Most current surveillance cameras lack real-time object detection and threat classification, leading to delayed responses and unnoticed unauthorized activities since footage must be manually reviewed by security personnel.</a:t>
            </a:r>
            <a:endParaRPr lang="en-US" sz="2800" dirty="0">
              <a:latin typeface="Arial Narrow" panose="020B0606020202030204" pitchFamily="34" charset="0"/>
              <a:cs typeface="Arial Narrow" panose="020B0606020202030204" pitchFamily="34" charset="0"/>
            </a:endParaRPr>
          </a:p>
          <a:p>
            <a:pPr marL="0" lvl="0" indent="0" algn="l" rtl="0">
              <a:lnSpc>
                <a:spcPct val="90000"/>
              </a:lnSpc>
              <a:spcBef>
                <a:spcPts val="0"/>
              </a:spcBef>
              <a:spcAft>
                <a:spcPts val="0"/>
              </a:spcAft>
              <a:buClr>
                <a:schemeClr val="dk1"/>
              </a:buClr>
              <a:buSzPts val="2800"/>
              <a:buNone/>
            </a:pPr>
            <a:endParaRPr lang="zh-CN" altLang="en-US" sz="280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chemeClr val="dk1"/>
              </a:buClr>
              <a:buSzPts val="2800"/>
              <a:buNone/>
            </a:pPr>
            <a:r>
              <a:rPr lang="en-US" sz="2800" dirty="0">
                <a:latin typeface="Arial Narrow" panose="020B0606020202030204" pitchFamily="34" charset="0"/>
                <a:cs typeface="Arial Narrow" panose="020B0606020202030204" pitchFamily="34" charset="0"/>
              </a:rPr>
              <a:t>2. Traditional monitoring systems do not automatically send alerts when unauthorized objects or individuals enter restricted zones, relying heavily on human observation which is error-prone and inefficient</a:t>
            </a:r>
            <a:endParaRPr lang="en-US" sz="2800"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chemeClr val="dk1"/>
              </a:buClr>
              <a:buSzPts val="2800"/>
              <a:buNone/>
            </a:pPr>
            <a:endParaRPr lang="zh-CN" altLang="en-US" sz="280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chemeClr val="dk1"/>
              </a:buClr>
              <a:buSzPts val="2800"/>
              <a:buNone/>
            </a:pPr>
            <a:r>
              <a:rPr lang="en-US" sz="2800" dirty="0">
                <a:latin typeface="Arial Narrow" panose="020B0606020202030204" pitchFamily="34" charset="0"/>
                <a:cs typeface="Arial Narrow" panose="020B0606020202030204" pitchFamily="34" charset="0"/>
              </a:rPr>
              <a:t>3.Existing systems typically detect only basic motion or human activity and cannot accurately identify specific prohibited items such as mobile phones, weapons, bottles, or documents, increasing the risk of security breaches</a:t>
            </a:r>
            <a:endParaRPr lang="en-US" altLang="en-US" sz="2800" dirty="0">
              <a:latin typeface="Arial Narrow" panose="020B0606020202030204" pitchFamily="34" charset="0"/>
              <a:cs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Shape 131"/>
        <p:cNvGrpSpPr/>
        <p:nvPr/>
      </p:nvGrpSpPr>
      <p:grpSpPr>
        <a:xfrm>
          <a:off x="0" y="0"/>
          <a:ext cx="0" cy="0"/>
          <a:chOff x="0" y="0"/>
          <a:chExt cx="0" cy="0"/>
        </a:xfrm>
      </p:grpSpPr>
      <p:sp>
        <p:nvSpPr>
          <p:cNvPr id="1048624"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25" name="Google Shape;133;p7"/>
          <p:cNvSpPr txBox="1"/>
          <p:nvPr/>
        </p:nvSpPr>
        <p:spPr>
          <a:xfrm>
            <a:off x="-1" y="0"/>
            <a:ext cx="12192000" cy="708000"/>
          </a:xfrm>
          <a:prstGeom prst="rect">
            <a:avLst/>
          </a:prstGeom>
          <a:noFill/>
          <a:ln>
            <a:noFill/>
          </a:ln>
        </p:spPr>
        <p:txBody>
          <a:bodyPr spcFirstLastPara="1" wrap="square" lIns="91425" tIns="45700" rIns="91425" bIns="45700" anchor="t" anchorCtr="0">
            <a:spAutoFit/>
          </a:bodyPr>
          <a:p>
            <a:pPr lvl="0" algn="ctr"/>
            <a:r>
              <a:rPr lang="en-US" sz="4000" b="1" dirty="0">
                <a:solidFill>
                  <a:schemeClr val="dk1"/>
                </a:solidFill>
                <a:latin typeface="Arial Narrow" panose="020B0606020202030204"/>
                <a:ea typeface="Arial Narrow" panose="020B0606020202030204"/>
                <a:cs typeface="Arial Narrow" panose="020B0606020202030204"/>
                <a:sym typeface="Arial Narrow" panose="020B0606020202030204"/>
              </a:rPr>
              <a:t>PROPOSED </a:t>
            </a:r>
            <a:r>
              <a:rPr lang="en-US" sz="4000" b="1">
                <a:solidFill>
                  <a:schemeClr val="dk1"/>
                </a:solidFill>
                <a:latin typeface="Arial Narrow" panose="020B0606020202030204"/>
                <a:ea typeface="Arial Narrow" panose="020B0606020202030204"/>
                <a:cs typeface="Arial Narrow" panose="020B0606020202030204"/>
                <a:sym typeface="Arial Narrow" panose="020B0606020202030204"/>
              </a:rPr>
              <a:t>SYSTEM </a:t>
            </a:r>
            <a:r>
              <a:rPr lang="en-US" sz="4000" b="1" dirty="0">
                <a:solidFill>
                  <a:schemeClr val="dk1"/>
                </a:solidFill>
                <a:latin typeface="Arial Narrow" panose="020B0606020202030204"/>
              </a:rPr>
              <a:t>ARCHITECTURE</a:t>
            </a:r>
            <a:endParaRPr sz="4000" b="1" dirty="0">
              <a:solidFill>
                <a:schemeClr val="dk1"/>
              </a:solidFill>
              <a:latin typeface="Arial Narrow" panose="020B0606020202030204"/>
              <a:sym typeface="Arial Narrow" panose="020B0606020202030204"/>
            </a:endParaRPr>
          </a:p>
        </p:txBody>
      </p:sp>
      <p:pic>
        <p:nvPicPr>
          <p:cNvPr id="2097156" name="Picture 2097155"/>
          <p:cNvPicPr/>
          <p:nvPr/>
        </p:nvPicPr>
        <p:blipFill>
          <a:blip r:embed="rId1"/>
          <a:stretch>
            <a:fillRect/>
          </a:stretch>
        </p:blipFill>
        <p:spPr>
          <a:xfrm>
            <a:off x="1091045" y="1541433"/>
            <a:ext cx="10009909" cy="37751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8" name="Shape 137"/>
        <p:cNvGrpSpPr/>
        <p:nvPr/>
      </p:nvGrpSpPr>
      <p:grpSpPr>
        <a:xfrm>
          <a:off x="0" y="0"/>
          <a:ext cx="0" cy="0"/>
          <a:chOff x="0" y="0"/>
          <a:chExt cx="0" cy="0"/>
        </a:xfrm>
      </p:grpSpPr>
      <p:sp>
        <p:nvSpPr>
          <p:cNvPr id="1048636" name="Google Shape;138;p8"/>
          <p:cNvSpPr txBox="1">
            <a:spLocks noGrp="1"/>
          </p:cNvSpPr>
          <p:nvPr>
            <p:ph type="title"/>
          </p:nvPr>
        </p:nvSpPr>
        <p:spPr>
          <a:xfrm>
            <a:off x="0" y="0"/>
            <a:ext cx="12192000" cy="823800"/>
          </a:xfrm>
          <a:prstGeom prst="rect">
            <a:avLst/>
          </a:prstGeom>
          <a:noFill/>
          <a:ln>
            <a:noFill/>
          </a:ln>
        </p:spPr>
        <p:txBody>
          <a:bodyPr spcFirstLastPara="1" wrap="square" lIns="91425" tIns="45700" rIns="91425" bIns="45700" anchor="ctr" anchorCtr="0">
            <a:normAutofit/>
          </a:bodyPr>
          <a:p>
            <a:pPr marL="0" lvl="0" indent="0" algn="ctr" rtl="0">
              <a:lnSpc>
                <a:spcPct val="90000"/>
              </a:lnSpc>
              <a:spcBef>
                <a:spcPts val="0"/>
              </a:spcBef>
              <a:spcAft>
                <a:spcPts val="0"/>
              </a:spcAft>
              <a:buClr>
                <a:schemeClr val="dk1"/>
              </a:buClr>
              <a:buSzPts val="4400"/>
              <a:buFont typeface="Times New Roman" panose="02020603050405020304"/>
              <a:buNone/>
            </a:pPr>
            <a:r>
              <a:rPr lang="en-US" sz="4000" b="1">
                <a:latin typeface="Arial Narrow" panose="020B0606020202030204"/>
                <a:ea typeface="Arial Narrow" panose="020B0606020202030204"/>
                <a:cs typeface="Arial Narrow" panose="020B0606020202030204"/>
                <a:sym typeface="Arial Narrow" panose="020B0606020202030204"/>
              </a:rPr>
              <a:t>SOFTWARE AND HARDWARE REQUIREMENTS </a:t>
            </a:r>
            <a:endParaRPr lang="en-US" sz="4000" b="1">
              <a:latin typeface="Arial Narrow" panose="020B0606020202030204"/>
              <a:ea typeface="Arial Narrow" panose="020B0606020202030204"/>
              <a:cs typeface="Arial Narrow" panose="020B0606020202030204"/>
              <a:sym typeface="Arial Narrow" panose="020B0606020202030204"/>
            </a:endParaRPr>
          </a:p>
        </p:txBody>
      </p:sp>
      <p:sp>
        <p:nvSpPr>
          <p:cNvPr id="1048637" name="Google Shape;139;p8"/>
          <p:cNvSpPr txBox="1">
            <a:spLocks noGrp="1"/>
          </p:cNvSpPr>
          <p:nvPr>
            <p:ph type="body" idx="2"/>
          </p:nvPr>
        </p:nvSpPr>
        <p:spPr>
          <a:xfrm>
            <a:off x="358301" y="1368810"/>
            <a:ext cx="5157900" cy="3684600"/>
          </a:xfrm>
          <a:prstGeom prst="rect">
            <a:avLst/>
          </a:prstGeom>
          <a:noFill/>
          <a:ln>
            <a:noFill/>
          </a:ln>
        </p:spPr>
        <p:txBody>
          <a:bodyPr spcFirstLastPara="1" wrap="square" lIns="91425" tIns="45700" rIns="91425" bIns="45700" anchor="t" anchorCtr="0">
            <a:normAutofit/>
          </a:bodyPr>
          <a:p>
            <a:pPr marL="0" lvl="0" indent="0" algn="l" rtl="0">
              <a:spcBef>
                <a:spcPts val="0"/>
              </a:spcBef>
              <a:spcAft>
                <a:spcPts val="0"/>
              </a:spcAft>
              <a:buClr>
                <a:schemeClr val="dk1"/>
              </a:buClr>
              <a:buSzPts val="2800"/>
              <a:buFont typeface="Arial" panose="020B0604020202020204"/>
              <a:buNone/>
            </a:pPr>
            <a:r>
              <a:rPr lang="en-US" sz="2400" b="1">
                <a:latin typeface="Arial Narrow" panose="020B0606020202030204" pitchFamily="34" charset="0"/>
                <a:ea typeface="Arial Narrow" panose="020B0606020202030204"/>
                <a:cs typeface="Arial Narrow" panose="020B0606020202030204" pitchFamily="34" charset="0"/>
                <a:sym typeface="Arial Narrow" panose="020B0606020202030204"/>
              </a:rPr>
              <a:t>HARDWARE</a:t>
            </a:r>
            <a:endParaRPr lang="en-US" sz="2400" b="1">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spcBef>
                <a:spcPts val="0"/>
              </a:spcBef>
              <a:spcAft>
                <a:spcPts val="0"/>
              </a:spcAft>
              <a:buClr>
                <a:schemeClr val="dk1"/>
              </a:buClr>
              <a:buSzPts val="2800"/>
              <a:buFont typeface="Arial" panose="020B0604020202020204"/>
              <a:buNone/>
            </a:pPr>
            <a:endParaRPr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rPr>
              <a:t>1.Processor</a:t>
            </a:r>
            <a:endParaRPr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1000"/>
              </a:spcBef>
              <a:spcAft>
                <a:spcPts val="0"/>
              </a:spcAft>
              <a:buClr>
                <a:srgbClr val="FF0000"/>
              </a:buClr>
              <a:buSzPts val="2800"/>
              <a:buNone/>
            </a:pPr>
            <a:r>
              <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rPr>
              <a:t>2.RAM</a:t>
            </a:r>
            <a:endParaRPr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1000"/>
              </a:spcBef>
              <a:spcAft>
                <a:spcPts val="0"/>
              </a:spcAft>
              <a:buClr>
                <a:srgbClr val="FF0000"/>
              </a:buClr>
              <a:buSzPts val="2800"/>
              <a:buNone/>
            </a:pPr>
            <a:r>
              <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rPr>
              <a:t>3.Storage</a:t>
            </a:r>
            <a:endParaRPr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1000"/>
              </a:spcBef>
              <a:spcAft>
                <a:spcPts val="0"/>
              </a:spcAft>
              <a:buClr>
                <a:srgbClr val="FF0000"/>
              </a:buClr>
              <a:buSzPts val="2800"/>
              <a:buNone/>
            </a:pPr>
            <a:r>
              <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rPr>
              <a:t>4.GraphicsDriver Webcam</a:t>
            </a:r>
            <a:endParaRPr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a:p>
            <a:pPr marL="0" lvl="0" indent="0" algn="l" rtl="0">
              <a:lnSpc>
                <a:spcPct val="90000"/>
              </a:lnSpc>
              <a:spcBef>
                <a:spcPts val="1000"/>
              </a:spcBef>
              <a:spcAft>
                <a:spcPts val="0"/>
              </a:spcAft>
              <a:buClr>
                <a:srgbClr val="FF0000"/>
              </a:buClr>
              <a:buSzPts val="2800"/>
              <a:buNone/>
            </a:pPr>
            <a:r>
              <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rPr>
              <a:t>5.PowerSupply</a:t>
            </a:r>
            <a:endParaRPr lang="en-US" sz="2400">
              <a:latin typeface="Arial Narrow" panose="020B0606020202030204" pitchFamily="34" charset="0"/>
              <a:ea typeface="Arial Narrow" panose="020B0606020202030204"/>
              <a:cs typeface="Arial Narrow" panose="020B0606020202030204" pitchFamily="34" charset="0"/>
              <a:sym typeface="Arial Narrow" panose="020B0606020202030204"/>
            </a:endParaRPr>
          </a:p>
        </p:txBody>
      </p:sp>
      <p:sp>
        <p:nvSpPr>
          <p:cNvPr id="1048638" name="Google Shape;140;p8"/>
          <p:cNvSpPr txBox="1">
            <a:spLocks noGrp="1"/>
          </p:cNvSpPr>
          <p:nvPr>
            <p:ph type="body" idx="4"/>
          </p:nvPr>
        </p:nvSpPr>
        <p:spPr>
          <a:xfrm>
            <a:off x="6938010" y="1369060"/>
            <a:ext cx="3870325" cy="3816985"/>
          </a:xfrm>
          <a:prstGeom prst="rect">
            <a:avLst/>
          </a:prstGeom>
          <a:noFill/>
          <a:ln>
            <a:noFill/>
          </a:ln>
        </p:spPr>
        <p:txBody>
          <a:bodyPr spcFirstLastPara="1" wrap="square" lIns="91425" tIns="45700" rIns="91425" bIns="45700" anchor="t" anchorCtr="0">
            <a:noAutofit/>
          </a:bodyPr>
          <a:p>
            <a:pPr marL="0" lvl="0" indent="0" algn="l" rtl="0">
              <a:spcBef>
                <a:spcPts val="0"/>
              </a:spcBef>
              <a:spcAft>
                <a:spcPts val="0"/>
              </a:spcAft>
              <a:buClr>
                <a:schemeClr val="dk1"/>
              </a:buClr>
              <a:buSzPts val="2800"/>
              <a:buFont typeface="Arial" panose="020B0604020202020204"/>
              <a:buNone/>
            </a:pPr>
            <a:r>
              <a:rPr lang="en-US" sz="2400" b="1">
                <a:latin typeface="Arial Narrow" panose="020B0606020202030204"/>
                <a:ea typeface="Arial Narrow" panose="020B0606020202030204"/>
                <a:cs typeface="Arial Narrow" panose="020B0606020202030204"/>
                <a:sym typeface="Arial Narrow" panose="020B0606020202030204"/>
              </a:rPr>
              <a:t>SOFTWARE</a:t>
            </a:r>
            <a:endParaRPr sz="2400" b="1">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1.OperatingSystem</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2.PythonVersion</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3.PythonLibraries</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4.IDE</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5.WebcamDriver</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6.ModelFile</a:t>
            </a: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endParaRPr sz="2400">
              <a:latin typeface="Arial Narrow" panose="020B0606020202030204"/>
              <a:ea typeface="Arial Narrow" panose="020B0606020202030204"/>
              <a:cs typeface="Arial Narrow" panose="020B0606020202030204"/>
              <a:sym typeface="Arial Narrow" panose="020B0606020202030204"/>
            </a:endParaRPr>
          </a:p>
          <a:p>
            <a:pPr marL="0" lvl="0" indent="0" algn="l" rtl="0">
              <a:lnSpc>
                <a:spcPct val="90000"/>
              </a:lnSpc>
              <a:spcBef>
                <a:spcPts val="0"/>
              </a:spcBef>
              <a:spcAft>
                <a:spcPts val="0"/>
              </a:spcAft>
              <a:buClr>
                <a:srgbClr val="FF0000"/>
              </a:buClr>
              <a:buSzPts val="2800"/>
              <a:buNone/>
            </a:pPr>
            <a:r>
              <a:rPr lang="en-US" sz="2400">
                <a:latin typeface="Arial Narrow" panose="020B0606020202030204"/>
                <a:ea typeface="Arial Narrow" panose="020B0606020202030204"/>
                <a:cs typeface="Arial Narrow" panose="020B0606020202030204"/>
                <a:sym typeface="Arial Narrow" panose="020B0606020202030204"/>
              </a:rPr>
              <a:t>7.E-MailConfiguration AlarmFile</a:t>
            </a:r>
            <a:endParaRPr lang="en-US" sz="2400">
              <a:latin typeface="Arial Narrow" panose="020B0606020202030204"/>
              <a:ea typeface="Arial Narrow" panose="020B0606020202030204"/>
              <a:cs typeface="Arial Narrow" panose="020B0606020202030204"/>
              <a:sym typeface="Arial Narrow" panose="020B0606020202030204"/>
            </a:endParaRPr>
          </a:p>
        </p:txBody>
      </p:sp>
      <p:sp>
        <p:nvSpPr>
          <p:cNvPr id="1048639"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1" name="Shape 145"/>
        <p:cNvGrpSpPr/>
        <p:nvPr/>
      </p:nvGrpSpPr>
      <p:grpSpPr>
        <a:xfrm>
          <a:off x="0" y="0"/>
          <a:ext cx="0" cy="0"/>
          <a:chOff x="0" y="0"/>
          <a:chExt cx="0" cy="0"/>
        </a:xfrm>
      </p:grpSpPr>
      <p:sp>
        <p:nvSpPr>
          <p:cNvPr id="1048642" name="Google Shape;146;p9"/>
          <p:cNvSpPr txBox="1">
            <a:spLocks noGrp="1"/>
          </p:cNvSpPr>
          <p:nvPr>
            <p:ph type="title"/>
          </p:nvPr>
        </p:nvSpPr>
        <p:spPr>
          <a:xfrm>
            <a:off x="0" y="0"/>
            <a:ext cx="12192000" cy="618600"/>
          </a:xfrm>
          <a:prstGeom prst="rect">
            <a:avLst/>
          </a:prstGeom>
          <a:noFill/>
          <a:ln>
            <a:noFill/>
          </a:ln>
        </p:spPr>
        <p:txBody>
          <a:bodyPr spcFirstLastPara="1" wrap="square" lIns="91425" tIns="45700" rIns="91425" bIns="45700" anchor="ctr" anchorCtr="0">
            <a:noAutofit/>
          </a:bodyPr>
          <a:p>
            <a:pPr marL="0" lvl="0" indent="0" algn="ctr" rtl="0">
              <a:lnSpc>
                <a:spcPct val="90000"/>
              </a:lnSpc>
              <a:spcBef>
                <a:spcPts val="0"/>
              </a:spcBef>
              <a:spcAft>
                <a:spcPts val="0"/>
              </a:spcAft>
              <a:buClr>
                <a:schemeClr val="dk1"/>
              </a:buClr>
              <a:buSzPct val="100000"/>
              <a:buFont typeface="Times New Roman" panose="02020603050405020304"/>
              <a:buNone/>
            </a:pPr>
            <a:r>
              <a:rPr lang="en-US" sz="4000" b="1">
                <a:latin typeface="Arial Narrow" panose="020B0606020202030204"/>
                <a:ea typeface="Arial Narrow" panose="020B0606020202030204"/>
                <a:cs typeface="Arial Narrow" panose="020B0606020202030204"/>
                <a:sym typeface="Arial Narrow" panose="020B0606020202030204"/>
              </a:rPr>
              <a:t>MODULES </a:t>
            </a:r>
            <a:endParaRPr lang="en-US" sz="4000" b="1">
              <a:latin typeface="Arial Narrow" panose="020B0606020202030204"/>
              <a:ea typeface="Arial Narrow" panose="020B0606020202030204"/>
              <a:cs typeface="Arial Narrow" panose="020B0606020202030204"/>
              <a:sym typeface="Arial Narrow" panose="020B0606020202030204"/>
            </a:endParaRPr>
          </a:p>
        </p:txBody>
      </p:sp>
      <p:sp>
        <p:nvSpPr>
          <p:cNvPr id="1048643" name="Google Shape;147;p9"/>
          <p:cNvSpPr txBox="1">
            <a:spLocks noGrp="1"/>
          </p:cNvSpPr>
          <p:nvPr>
            <p:ph type="body" idx="1"/>
          </p:nvPr>
        </p:nvSpPr>
        <p:spPr>
          <a:xfrm>
            <a:off x="838200" y="1502410"/>
            <a:ext cx="8851265" cy="4674870"/>
          </a:xfrm>
          <a:prstGeom prst="rect">
            <a:avLst/>
          </a:prstGeom>
          <a:noFill/>
          <a:ln>
            <a:noFill/>
          </a:ln>
        </p:spPr>
        <p:txBody>
          <a:bodyPr spcFirstLastPara="1" wrap="square" lIns="91425" tIns="45700" rIns="91425" bIns="45700" anchor="t" anchorCtr="0">
            <a:noAutofit/>
          </a:bodyPr>
          <a:p>
            <a:pPr marL="0" lvl="0" indent="0" algn="l" rtl="0">
              <a:lnSpc>
                <a:spcPct val="90000"/>
              </a:lnSpc>
              <a:spcBef>
                <a:spcPts val="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1.Object Detection and Classification Module</a:t>
            </a:r>
            <a:endParaRPr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2.Authorized Object Verification Module</a:t>
            </a:r>
            <a:endParaRPr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3.Real-Time Monitoring and Event Trigger Module</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4.Alert and Notification Module.</a:t>
            </a:r>
            <a:endParaRPr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5.Image Logging and Evidence Storage Module</a:t>
            </a:r>
            <a:endParaRPr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6.User Interface and System Control Module</a:t>
            </a:r>
            <a:endParaRPr dirty="0">
              <a:latin typeface="Arial Narrow" panose="020B0606020202030204" pitchFamily="34" charset="0"/>
              <a:cs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p:txBody>
      </p:sp>
      <p:sp>
        <p:nvSpPr>
          <p:cNvPr id="1048644"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4" name="Shape 152"/>
        <p:cNvGrpSpPr/>
        <p:nvPr/>
      </p:nvGrpSpPr>
      <p:grpSpPr>
        <a:xfrm>
          <a:off x="0" y="0"/>
          <a:ext cx="0" cy="0"/>
          <a:chOff x="0" y="0"/>
          <a:chExt cx="0" cy="0"/>
        </a:xfrm>
      </p:grpSpPr>
      <p:sp>
        <p:nvSpPr>
          <p:cNvPr id="1048647" name="Google Shape;153;p10"/>
          <p:cNvSpPr txBox="1">
            <a:spLocks noGrp="1"/>
          </p:cNvSpPr>
          <p:nvPr>
            <p:ph type="title"/>
          </p:nvPr>
        </p:nvSpPr>
        <p:spPr>
          <a:xfrm>
            <a:off x="0" y="0"/>
            <a:ext cx="12192000" cy="822960"/>
          </a:xfrm>
          <a:prstGeom prst="rect">
            <a:avLst/>
          </a:prstGeom>
          <a:noFill/>
          <a:ln>
            <a:noFill/>
          </a:ln>
        </p:spPr>
        <p:txBody>
          <a:bodyPr spcFirstLastPara="1" wrap="square" lIns="91425" tIns="45700" rIns="91425" bIns="45700" anchor="ctr" anchorCtr="0"/>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MODULE-1</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
        <p:nvSpPr>
          <p:cNvPr id="1048648" name="Google Shape;154;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p>
            <a:pPr marL="0" lvl="0" indent="0" algn="just" rtl="0">
              <a:lnSpc>
                <a:spcPct val="90000"/>
              </a:lnSpc>
              <a:spcBef>
                <a:spcPts val="1000"/>
              </a:spcBef>
              <a:spcAft>
                <a:spcPts val="0"/>
              </a:spcAft>
              <a:buClr>
                <a:srgbClr val="FF0000"/>
              </a:buClr>
              <a:buSzPts val="2800"/>
              <a:buNone/>
            </a:pPr>
            <a:r>
              <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rPr>
              <a:t>Object Detection and Classification Module</a:t>
            </a:r>
            <a:endParaRPr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endParaRPr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1.Uses YOLOv8 deep learning model for real-time detection from webcamvideo feed</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2.Identifies multiple objects with bounding boxes, labels, and confidence scores.</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just"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3.Utilizes pre-trained weights on COCO dataset for recognizing common categories accurately.</a:t>
            </a: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p:txBody>
      </p:sp>
      <p:sp>
        <p:nvSpPr>
          <p:cNvPr id="1048649"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50" name="AutoShape 4"/>
          <p:cNvSpPr>
            <a:spLocks noChangeAspect="1" noChangeArrowheads="1"/>
          </p:cNvSpPr>
          <p:nvPr/>
        </p:nvSpPr>
        <p:spPr bwMode="auto">
          <a:xfrm>
            <a:off x="5943600" y="3276600"/>
            <a:ext cx="304800" cy="304800"/>
          </a:xfrm>
          <a:prstGeom prst="rect">
            <a:avLst/>
          </a:prstGeom>
          <a:noFill/>
        </p:spPr>
        <p:txBody>
          <a:bodyPr vert="horz" wrap="square" lIns="91440" tIns="45720" rIns="91440" bIns="45720" numCol="1" anchor="t" anchorCtr="0" compatLnSpc="1"/>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7" name="Shape 159"/>
        <p:cNvGrpSpPr/>
        <p:nvPr/>
      </p:nvGrpSpPr>
      <p:grpSpPr>
        <a:xfrm>
          <a:off x="0" y="0"/>
          <a:ext cx="0" cy="0"/>
          <a:chOff x="0" y="0"/>
          <a:chExt cx="0" cy="0"/>
        </a:xfrm>
      </p:grpSpPr>
      <p:sp>
        <p:nvSpPr>
          <p:cNvPr id="1048653" name="Google Shape;160;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p>
            <a:pPr marL="0" lvl="0" indent="0" algn="l" rtl="0">
              <a:lnSpc>
                <a:spcPct val="90000"/>
              </a:lnSpc>
              <a:spcBef>
                <a:spcPts val="1000"/>
              </a:spcBef>
              <a:spcAft>
                <a:spcPts val="0"/>
              </a:spcAft>
              <a:buClr>
                <a:srgbClr val="FF0000"/>
              </a:buClr>
              <a:buSzPts val="2800"/>
              <a:buNone/>
            </a:pPr>
            <a:r>
              <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rPr>
              <a:t>Authorized Object Verification ModuleCompares detected</a:t>
            </a: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1.objects against a predefined list of authorized items.</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2.Flags items not in the authorized list as suspicious or unauthorized.</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1000"/>
              </a:spcBef>
              <a:spcAft>
                <a:spcPts val="0"/>
              </a:spcAft>
              <a:buClr>
                <a:srgbClr val="FF0000"/>
              </a:buClr>
              <a:buSzPts val="2800"/>
              <a:buNone/>
            </a:pPr>
            <a:r>
              <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rPr>
              <a:t>3.Supports adaptable authorized lists based on the environment (e.g., exam halls vs office).</a:t>
            </a:r>
            <a:endParaRPr lang="en-US"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p:txBody>
      </p:sp>
      <p:sp>
        <p:nvSpPr>
          <p:cNvPr id="1048654"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55" name="Google Shape;162;p11"/>
          <p:cNvSpPr txBox="1">
            <a:spLocks noGrp="1"/>
          </p:cNvSpPr>
          <p:nvPr>
            <p:ph type="title"/>
          </p:nvPr>
        </p:nvSpPr>
        <p:spPr>
          <a:xfrm>
            <a:off x="0" y="0"/>
            <a:ext cx="12192000" cy="880110"/>
          </a:xfrm>
          <a:prstGeom prst="rect">
            <a:avLst/>
          </a:prstGeom>
          <a:noFill/>
          <a:ln>
            <a:noFill/>
          </a:ln>
        </p:spPr>
        <p:txBody>
          <a:bodyPr spcFirstLastPara="1" wrap="square" lIns="91425" tIns="45700" rIns="91425" bIns="45700" anchor="ctr" anchorCtr="0"/>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MODULE-2</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70" name="Shape 166"/>
        <p:cNvGrpSpPr/>
        <p:nvPr/>
      </p:nvGrpSpPr>
      <p:grpSpPr>
        <a:xfrm>
          <a:off x="0" y="0"/>
          <a:ext cx="0" cy="0"/>
          <a:chOff x="0" y="0"/>
          <a:chExt cx="0" cy="0"/>
        </a:xfrm>
      </p:grpSpPr>
      <p:sp>
        <p:nvSpPr>
          <p:cNvPr id="1048658" name="Google Shape;167;p12"/>
          <p:cNvSpPr txBox="1">
            <a:spLocks noGrp="1"/>
          </p:cNvSpPr>
          <p:nvPr>
            <p:ph type="body" idx="1"/>
          </p:nvPr>
        </p:nvSpPr>
        <p:spPr>
          <a:xfrm>
            <a:off x="838200" y="1825625"/>
            <a:ext cx="10515600" cy="3608070"/>
          </a:xfrm>
          <a:prstGeom prst="rect">
            <a:avLst/>
          </a:prstGeom>
          <a:noFill/>
          <a:ln>
            <a:noFill/>
          </a:ln>
        </p:spPr>
        <p:txBody>
          <a:bodyPr spcFirstLastPara="1" wrap="square" lIns="91425" tIns="45700" rIns="91425" bIns="45700" anchor="t" anchorCtr="0">
            <a:noAutofit/>
          </a:bodyPr>
          <a:p>
            <a:pPr marL="0" lvl="0" indent="0" algn="l" rtl="0">
              <a:lnSpc>
                <a:spcPct val="90000"/>
              </a:lnSpc>
              <a:spcBef>
                <a:spcPts val="0"/>
              </a:spcBef>
              <a:spcAft>
                <a:spcPts val="0"/>
              </a:spcAft>
              <a:buClr>
                <a:schemeClr val="dk1"/>
              </a:buClr>
              <a:buSzPts val="2800"/>
              <a:buNone/>
            </a:pPr>
            <a:r>
              <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rPr>
              <a:t>Real-Time Monitoring and Event Trigger Module</a:t>
            </a: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0"/>
              </a:spcBef>
              <a:spcAft>
                <a:spcPts val="0"/>
              </a:spcAft>
              <a:buClr>
                <a:schemeClr val="dk1"/>
              </a:buClr>
              <a:buSzPts val="2800"/>
              <a:buNone/>
            </a:pPr>
            <a:endParaRPr dirty="0">
              <a:latin typeface="Arial Narrow" panose="020B0606020202030204" pitchFamily="34" charset="0"/>
              <a:cs typeface="Arial Narrow" panose="020B0606020202030204" pitchFamily="34" charset="0"/>
            </a:endParaRPr>
          </a:p>
          <a:p>
            <a:pPr marL="0" lvl="0" indent="0" algn="l" rtl="0">
              <a:lnSpc>
                <a:spcPct val="90000"/>
              </a:lnSpc>
              <a:spcBef>
                <a:spcPts val="0"/>
              </a:spcBef>
              <a:spcAft>
                <a:spcPts val="0"/>
              </a:spcAft>
              <a:buClr>
                <a:schemeClr val="dk1"/>
              </a:buClr>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1.Continuously captures and processes video frames for uninterrupted monitoring.</a:t>
            </a:r>
            <a:endPar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lgn="l" rtl="0">
              <a:lnSpc>
                <a:spcPct val="90000"/>
              </a:lnSpc>
              <a:spcBef>
                <a:spcPts val="0"/>
              </a:spcBef>
              <a:spcAft>
                <a:spcPts val="0"/>
              </a:spcAft>
              <a:buClr>
                <a:schemeClr val="dk1"/>
              </a:buClr>
              <a:buSzPts val="2800"/>
              <a:buNone/>
            </a:pPr>
            <a:endParaRPr b="0" dirty="0">
              <a:latin typeface="Arial Narrow" panose="020B0606020202030204" pitchFamily="34" charset="0"/>
              <a:cs typeface="Arial Narrow" panose="020B0606020202030204" pitchFamily="34" charset="0"/>
            </a:endParaRPr>
          </a:p>
          <a:p>
            <a:pPr marL="0" lvl="0" indent="0" algn="l" rtl="0">
              <a:lnSpc>
                <a:spcPct val="90000"/>
              </a:lnSpc>
              <a:spcBef>
                <a:spcPts val="0"/>
              </a:spcBef>
              <a:spcAft>
                <a:spcPts val="0"/>
              </a:spcAft>
              <a:buClr>
                <a:schemeClr val="dk1"/>
              </a:buClr>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2.Triggers alerts only when violations occur to prevent alert spamming.</a:t>
            </a:r>
            <a:endParaRPr b="0" dirty="0">
              <a:latin typeface="Arial Narrow" panose="020B0606020202030204" pitchFamily="34" charset="0"/>
              <a:cs typeface="Arial Narrow" panose="020B0606020202030204" pitchFamily="34" charset="0"/>
            </a:endParaRPr>
          </a:p>
          <a:p>
            <a:pPr marL="0" lvl="0" indent="0" algn="l" rtl="0">
              <a:lnSpc>
                <a:spcPct val="90000"/>
              </a:lnSpc>
              <a:spcBef>
                <a:spcPts val="0"/>
              </a:spcBef>
              <a:spcAft>
                <a:spcPts val="0"/>
              </a:spcAft>
              <a:buClr>
                <a:schemeClr val="dk1"/>
              </a:buClr>
              <a:buSzPts val="2800"/>
              <a:buNone/>
            </a:pPr>
            <a:endParaRPr b="0" dirty="0">
              <a:latin typeface="Arial Narrow" panose="020B0606020202030204" pitchFamily="34" charset="0"/>
              <a:cs typeface="Arial Narrow" panose="020B0606020202030204" pitchFamily="34" charset="0"/>
            </a:endParaRPr>
          </a:p>
          <a:p>
            <a:pPr marL="0" lvl="0" indent="0" algn="l" rtl="0">
              <a:lnSpc>
                <a:spcPct val="90000"/>
              </a:lnSpc>
              <a:spcBef>
                <a:spcPts val="0"/>
              </a:spcBef>
              <a:spcAft>
                <a:spcPts val="0"/>
              </a:spcAft>
              <a:buClr>
                <a:schemeClr val="dk1"/>
              </a:buClr>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3.Acts as the surveillance watchdog by evaluating deviations and abnormal events.</a:t>
            </a:r>
            <a:endPar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p:txBody>
      </p:sp>
      <p:sp>
        <p:nvSpPr>
          <p:cNvPr id="1048659" name="Google Shape;16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60" name="Google Shape;169;p12"/>
          <p:cNvSpPr txBox="1">
            <a:spLocks noGrp="1"/>
          </p:cNvSpPr>
          <p:nvPr>
            <p:ph type="title"/>
          </p:nvPr>
        </p:nvSpPr>
        <p:spPr>
          <a:xfrm>
            <a:off x="0" y="0"/>
            <a:ext cx="12192000" cy="899160"/>
          </a:xfrm>
          <a:prstGeom prst="rect">
            <a:avLst/>
          </a:prstGeom>
          <a:noFill/>
          <a:ln>
            <a:noFill/>
          </a:ln>
        </p:spPr>
        <p:txBody>
          <a:bodyPr spcFirstLastPara="1" wrap="square" lIns="91425" tIns="45700" rIns="91425" bIns="45700" anchor="ctr" anchorCtr="0"/>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MODULE-3</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6" name="Shape 180"/>
        <p:cNvGrpSpPr/>
        <p:nvPr/>
      </p:nvGrpSpPr>
      <p:grpSpPr>
        <a:xfrm>
          <a:off x="0" y="0"/>
          <a:ext cx="0" cy="0"/>
          <a:chOff x="0" y="0"/>
          <a:chExt cx="0" cy="0"/>
        </a:xfrm>
      </p:grpSpPr>
      <p:sp>
        <p:nvSpPr>
          <p:cNvPr id="1048668" name="Google Shape;18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p>
            <a:pPr marL="0" lvl="0" indent="0">
              <a:spcBef>
                <a:spcPts val="0"/>
              </a:spcBef>
              <a:buSzPts val="2800"/>
              <a:buNone/>
            </a:pPr>
            <a:r>
              <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rPr>
              <a:t>Alert and Notification Module.</a:t>
            </a: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1.Sends real-time warnings via email (SMTP/Gmail) with detailed violation info.</a:t>
            </a:r>
            <a:endPar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2.Activates on-site audible alarms to deter unauthorized activity immediately.</a:t>
            </a:r>
            <a:endPar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rPr>
              <a:t>3.Provides dual alert mechanism for both local and remote situational awareness.</a:t>
            </a:r>
            <a:endParaRPr lang="en-US" b="0"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p:txBody>
      </p:sp>
      <p:sp>
        <p:nvSpPr>
          <p:cNvPr id="1048669"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70" name="Google Shape;183;p14"/>
          <p:cNvSpPr txBox="1">
            <a:spLocks noGrp="1"/>
          </p:cNvSpPr>
          <p:nvPr>
            <p:ph type="title"/>
          </p:nvPr>
        </p:nvSpPr>
        <p:spPr>
          <a:xfrm>
            <a:off x="0" y="0"/>
            <a:ext cx="12192000" cy="1178272"/>
          </a:xfrm>
          <a:prstGeom prst="rect">
            <a:avLst/>
          </a:prstGeom>
          <a:noFill/>
          <a:ln>
            <a:noFill/>
          </a:ln>
        </p:spPr>
        <p:txBody>
          <a:bodyPr spcFirstLastPara="1" wrap="square" lIns="91425" tIns="45700" rIns="91425" bIns="45700" anchor="ctr" anchorCtr="0">
            <a:normAutofit/>
          </a:bodyPr>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a:t>
            </a:r>
            <a:r>
              <a:rPr lang="en-US" sz="4000" b="1" dirty="0">
                <a:latin typeface="Arial Narrow" panose="020B0606020202030204"/>
                <a:ea typeface="Arial Narrow" panose="020B0606020202030204"/>
                <a:cs typeface="Arial Narrow" panose="020B0606020202030204"/>
                <a:sym typeface="Arial Narrow" panose="020B0606020202030204"/>
              </a:rPr>
              <a:t>4</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3" name="Shape 173"/>
        <p:cNvGrpSpPr/>
        <p:nvPr/>
      </p:nvGrpSpPr>
      <p:grpSpPr>
        <a:xfrm>
          <a:off x="0" y="0"/>
          <a:ext cx="0" cy="0"/>
          <a:chOff x="0" y="0"/>
          <a:chExt cx="0" cy="0"/>
        </a:xfrm>
      </p:grpSpPr>
      <p:sp>
        <p:nvSpPr>
          <p:cNvPr id="1048663" name="Google Shape;174;p13"/>
          <p:cNvSpPr txBox="1">
            <a:spLocks noGrp="1"/>
          </p:cNvSpPr>
          <p:nvPr>
            <p:ph type="body" idx="1"/>
          </p:nvPr>
        </p:nvSpPr>
        <p:spPr>
          <a:xfrm>
            <a:off x="838200" y="1825625"/>
            <a:ext cx="10515600" cy="3847465"/>
          </a:xfrm>
          <a:prstGeom prst="rect">
            <a:avLst/>
          </a:prstGeom>
          <a:noFill/>
          <a:ln>
            <a:noFill/>
          </a:ln>
        </p:spPr>
        <p:txBody>
          <a:bodyPr spcFirstLastPara="1" wrap="square" lIns="91425" tIns="45700" rIns="91425" bIns="45700" anchor="t" anchorCtr="0">
            <a:noAutofit/>
          </a:bodyPr>
          <a:p>
            <a:pPr marL="0" lvl="0" indent="0">
              <a:spcBef>
                <a:spcPts val="0"/>
              </a:spcBef>
              <a:buSzPts val="2800"/>
              <a:buNone/>
            </a:pPr>
            <a:r>
              <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rPr>
              <a:t>Image Logging and Evidence Storage Module</a:t>
            </a: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b="1" dirty="0">
              <a:latin typeface="Arial Narrow" panose="020B0606020202030204" pitchFamily="34" charset="0"/>
              <a:ea typeface="Times New Roman" panose="02020603050405020304"/>
              <a:cs typeface="Arial Narrow" panose="020B0606020202030204" pitchFamily="34" charset="0"/>
              <a:sym typeface="Times New Roman" panose="02020603050405020304"/>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dirty="0">
                <a:latin typeface="Arial Narrow" panose="020B0606020202030204" pitchFamily="34" charset="0"/>
                <a:cs typeface="Arial Narrow" panose="020B0606020202030204" pitchFamily="34" charset="0"/>
              </a:rPr>
              <a:t>1.Saves captured images of detections in separate folders for authorized and unauthorized.</a:t>
            </a: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dirty="0">
                <a:latin typeface="Arial Narrow" panose="020B0606020202030204" pitchFamily="34" charset="0"/>
                <a:cs typeface="Arial Narrow" panose="020B0606020202030204" pitchFamily="34" charset="0"/>
              </a:rPr>
              <a:t>2.Timestamps images to maintain accurate surveillance history.</a:t>
            </a: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endParaRPr lang="en-US" dirty="0">
              <a:latin typeface="Arial Narrow" panose="020B0606020202030204" pitchFamily="34" charset="0"/>
              <a:cs typeface="Arial Narrow" panose="020B0606020202030204" pitchFamily="34" charset="0"/>
            </a:endParaRPr>
          </a:p>
          <a:p>
            <a:pPr marL="0" lvl="0" indent="0">
              <a:spcBef>
                <a:spcPts val="0"/>
              </a:spcBef>
              <a:buSzPts val="2800"/>
              <a:buNone/>
            </a:pPr>
            <a:r>
              <a:rPr lang="en-US" dirty="0">
                <a:latin typeface="Arial Narrow" panose="020B0606020202030204" pitchFamily="34" charset="0"/>
                <a:cs typeface="Arial Narrow" panose="020B0606020202030204" pitchFamily="34" charset="0"/>
              </a:rPr>
              <a:t>3.Supports audit, investigation, and accountability through visual documentation.</a:t>
            </a:r>
            <a:endParaRPr lang="en-US" dirty="0">
              <a:latin typeface="Arial Narrow" panose="020B0606020202030204" pitchFamily="34" charset="0"/>
              <a:cs typeface="Arial Narrow" panose="020B0606020202030204" pitchFamily="34" charset="0"/>
            </a:endParaRPr>
          </a:p>
        </p:txBody>
      </p:sp>
      <p:sp>
        <p:nvSpPr>
          <p:cNvPr id="1048664"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65" name="Google Shape;176;p13"/>
          <p:cNvSpPr txBox="1">
            <a:spLocks noGrp="1"/>
          </p:cNvSpPr>
          <p:nvPr>
            <p:ph type="title"/>
          </p:nvPr>
        </p:nvSpPr>
        <p:spPr>
          <a:xfrm>
            <a:off x="0" y="0"/>
            <a:ext cx="12192000" cy="803910"/>
          </a:xfrm>
          <a:prstGeom prst="rect">
            <a:avLst/>
          </a:prstGeom>
          <a:noFill/>
          <a:ln>
            <a:noFill/>
          </a:ln>
        </p:spPr>
        <p:txBody>
          <a:bodyPr spcFirstLastPara="1" wrap="square" lIns="91425" tIns="45700" rIns="91425" bIns="45700" anchor="ctr" anchorCtr="0"/>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a:t>
            </a:r>
            <a:r>
              <a:rPr lang="en-US" sz="4000" b="1" dirty="0">
                <a:latin typeface="Arial Narrow" panose="020B0606020202030204"/>
                <a:ea typeface="Arial Narrow" panose="020B0606020202030204"/>
                <a:cs typeface="Arial Narrow" panose="020B0606020202030204"/>
                <a:sym typeface="Arial Narrow" panose="020B0606020202030204"/>
              </a:rPr>
              <a:t>5</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3" name="Shape 173"/>
        <p:cNvGrpSpPr/>
        <p:nvPr/>
      </p:nvGrpSpPr>
      <p:grpSpPr>
        <a:xfrm>
          <a:off x="0" y="0"/>
          <a:ext cx="0" cy="0"/>
          <a:chOff x="0" y="0"/>
          <a:chExt cx="0" cy="0"/>
        </a:xfrm>
      </p:grpSpPr>
      <p:sp>
        <p:nvSpPr>
          <p:cNvPr id="1048663" name="Google Shape;174;p13"/>
          <p:cNvSpPr txBox="1">
            <a:spLocks noGrp="1"/>
          </p:cNvSpPr>
          <p:nvPr>
            <p:ph type="body" idx="1"/>
          </p:nvPr>
        </p:nvSpPr>
        <p:spPr>
          <a:xfrm>
            <a:off x="838200" y="1825625"/>
            <a:ext cx="10515600" cy="3336290"/>
          </a:xfrm>
          <a:prstGeom prst="rect">
            <a:avLst/>
          </a:prstGeom>
          <a:noFill/>
          <a:ln>
            <a:noFill/>
          </a:ln>
        </p:spPr>
        <p:txBody>
          <a:bodyPr spcFirstLastPara="1" wrap="square" lIns="91425" tIns="45700" rIns="91425" bIns="45700" anchor="t" anchorCtr="0">
            <a:noAutofit/>
          </a:bodyPr>
          <a:p>
            <a:pPr marL="114300" indent="0">
              <a:buNone/>
            </a:pPr>
            <a:r>
              <a:rPr lang="en-US" b="1">
                <a:latin typeface="Arial Narrow" panose="020B0606020202030204" pitchFamily="34" charset="0"/>
                <a:cs typeface="Arial Narrow" panose="020B0606020202030204" pitchFamily="34" charset="0"/>
                <a:sym typeface="+mn-ea"/>
              </a:rPr>
              <a:t>User Interface and System Control Module</a:t>
            </a:r>
            <a:endParaRPr lang="en-GB" b="1">
              <a:latin typeface="Arial Narrow" panose="020B0606020202030204" pitchFamily="34" charset="0"/>
              <a:cs typeface="Arial Narrow" panose="020B0606020202030204" pitchFamily="34" charset="0"/>
            </a:endParaRPr>
          </a:p>
          <a:p>
            <a:pPr marL="114300" indent="0">
              <a:buNone/>
            </a:pPr>
            <a:endParaRPr lang="en-GB" b="1">
              <a:latin typeface="Arial Narrow" panose="020B0606020202030204" pitchFamily="34" charset="0"/>
              <a:cs typeface="Arial Narrow" panose="020B0606020202030204" pitchFamily="34" charset="0"/>
            </a:endParaRPr>
          </a:p>
          <a:p>
            <a:pPr marL="114300" indent="0">
              <a:buNone/>
            </a:pPr>
            <a:r>
              <a:rPr lang="en-US">
                <a:latin typeface="Arial Narrow" panose="020B0606020202030204" pitchFamily="34" charset="0"/>
                <a:cs typeface="Arial Narrow" panose="020B0606020202030204" pitchFamily="34" charset="0"/>
                <a:sym typeface="+mn-ea"/>
              </a:rPr>
              <a:t>1.</a:t>
            </a:r>
            <a:r>
              <a:rPr lang="en-GB">
                <a:latin typeface="Arial Narrow" panose="020B0606020202030204" pitchFamily="34" charset="0"/>
                <a:cs typeface="Arial Narrow" panose="020B0606020202030204" pitchFamily="34" charset="0"/>
                <a:sym typeface="+mn-ea"/>
              </a:rPr>
              <a:t>Manages real-time video display with bounding boxes and object labels using OpenCV.</a:t>
            </a:r>
            <a:endParaRPr lang="en-GB" b="0">
              <a:latin typeface="Arial Narrow" panose="020B0606020202030204" pitchFamily="34" charset="0"/>
              <a:cs typeface="Arial Narrow" panose="020B0606020202030204" pitchFamily="34" charset="0"/>
            </a:endParaRPr>
          </a:p>
          <a:p>
            <a:pPr marL="114300" indent="0">
              <a:buNone/>
            </a:pPr>
            <a:endParaRPr lang="en-GB" b="0">
              <a:latin typeface="Arial Narrow" panose="020B0606020202030204" pitchFamily="34" charset="0"/>
              <a:cs typeface="Arial Narrow" panose="020B0606020202030204" pitchFamily="34" charset="0"/>
            </a:endParaRPr>
          </a:p>
          <a:p>
            <a:pPr marL="114300" indent="0">
              <a:buNone/>
            </a:pPr>
            <a:r>
              <a:rPr lang="en-US">
                <a:latin typeface="Arial Narrow" panose="020B0606020202030204" pitchFamily="34" charset="0"/>
                <a:cs typeface="Arial Narrow" panose="020B0606020202030204" pitchFamily="34" charset="0"/>
                <a:sym typeface="+mn-ea"/>
              </a:rPr>
              <a:t>2.</a:t>
            </a:r>
            <a:r>
              <a:rPr lang="en-GB">
                <a:latin typeface="Arial Narrow" panose="020B0606020202030204" pitchFamily="34" charset="0"/>
                <a:cs typeface="Arial Narrow" panose="020B0606020202030204" pitchFamily="34" charset="0"/>
                <a:sym typeface="+mn-ea"/>
              </a:rPr>
              <a:t>Offers easy controls (e.g., press Q to quit) for non-technical users.</a:t>
            </a:r>
            <a:endParaRPr lang="en-GB" b="0">
              <a:latin typeface="Arial Narrow" panose="020B0606020202030204" pitchFamily="34" charset="0"/>
              <a:cs typeface="Arial Narrow" panose="020B0606020202030204" pitchFamily="34" charset="0"/>
            </a:endParaRPr>
          </a:p>
          <a:p>
            <a:pPr marL="114300" indent="0">
              <a:buNone/>
            </a:pPr>
            <a:endParaRPr lang="en-GB" b="0">
              <a:latin typeface="Arial Narrow" panose="020B0606020202030204" pitchFamily="34" charset="0"/>
              <a:cs typeface="Arial Narrow" panose="020B0606020202030204" pitchFamily="34" charset="0"/>
            </a:endParaRPr>
          </a:p>
          <a:p>
            <a:pPr marL="114300" indent="0">
              <a:buNone/>
            </a:pPr>
            <a:r>
              <a:rPr lang="en-US">
                <a:latin typeface="Arial Narrow" panose="020B0606020202030204" pitchFamily="34" charset="0"/>
                <a:cs typeface="Arial Narrow" panose="020B0606020202030204" pitchFamily="34" charset="0"/>
                <a:sym typeface="+mn-ea"/>
              </a:rPr>
              <a:t>3.</a:t>
            </a:r>
            <a:r>
              <a:rPr lang="en-GB">
                <a:latin typeface="Arial Narrow" panose="020B0606020202030204" pitchFamily="34" charset="0"/>
                <a:cs typeface="Arial Narrow" panose="020B0606020202030204" pitchFamily="34" charset="0"/>
                <a:sym typeface="+mn-ea"/>
              </a:rPr>
              <a:t>Synchronizes system components to ensure smooth and efficient monitoring workflow.</a:t>
            </a:r>
            <a:endParaRPr lang="en-GB" dirty="0">
              <a:latin typeface="Arial Narrow" panose="020B0606020202030204" pitchFamily="34" charset="0"/>
              <a:cs typeface="Arial Narrow" panose="020B0606020202030204" pitchFamily="34" charset="0"/>
              <a:sym typeface="+mn-ea"/>
            </a:endParaRPr>
          </a:p>
        </p:txBody>
      </p:sp>
      <p:sp>
        <p:nvSpPr>
          <p:cNvPr id="1048664"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b="1">
                <a:solidFill>
                  <a:schemeClr val="dk1"/>
                </a:solidFill>
              </a:rPr>
            </a:fld>
            <a:endParaRPr b="1">
              <a:solidFill>
                <a:schemeClr val="dk1"/>
              </a:solidFill>
            </a:endParaRPr>
          </a:p>
        </p:txBody>
      </p:sp>
      <p:sp>
        <p:nvSpPr>
          <p:cNvPr id="1048665" name="Google Shape;176;p13"/>
          <p:cNvSpPr txBox="1">
            <a:spLocks noGrp="1"/>
          </p:cNvSpPr>
          <p:nvPr>
            <p:ph type="title"/>
          </p:nvPr>
        </p:nvSpPr>
        <p:spPr>
          <a:xfrm>
            <a:off x="0" y="0"/>
            <a:ext cx="12192000" cy="803910"/>
          </a:xfrm>
          <a:prstGeom prst="rect">
            <a:avLst/>
          </a:prstGeom>
          <a:noFill/>
          <a:ln>
            <a:noFill/>
          </a:ln>
        </p:spPr>
        <p:txBody>
          <a:bodyPr spcFirstLastPara="1" wrap="square" lIns="91425" tIns="45700" rIns="91425" bIns="45700" anchor="ctr" anchorCtr="0"/>
          <a:p>
            <a:pPr lvl="0" algn="ctr">
              <a:buSzPct val="100000"/>
            </a:pPr>
            <a:r>
              <a:rPr lang="en-US" sz="4000" b="1" dirty="0">
                <a:latin typeface="Arial Narrow" panose="020B0606020202030204"/>
                <a:ea typeface="Arial Narrow" panose="020B0606020202030204"/>
                <a:cs typeface="Arial Narrow" panose="020B0606020202030204"/>
                <a:sym typeface="Arial Narrow" panose="020B0606020202030204"/>
              </a:rPr>
              <a:t>IMPLEMENTATION OF MODULE-6</a:t>
            </a:r>
            <a:endParaRPr lang="en-US" sz="4000" b="1" dirty="0">
              <a:latin typeface="Arial Narrow" panose="020B0606020202030204"/>
              <a:ea typeface="Arial Narrow" panose="020B0606020202030204"/>
              <a:cs typeface="Arial Narrow" panose="020B0606020202030204"/>
              <a:sym typeface="Arial Narrow" panose="020B0606020202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79" name="Shape 193"/>
        <p:cNvGrpSpPr/>
        <p:nvPr/>
      </p:nvGrpSpPr>
      <p:grpSpPr>
        <a:xfrm>
          <a:off x="0" y="0"/>
          <a:ext cx="0" cy="0"/>
          <a:chOff x="0" y="0"/>
          <a:chExt cx="0" cy="0"/>
        </a:xfrm>
      </p:grpSpPr>
      <p:sp>
        <p:nvSpPr>
          <p:cNvPr id="1048673" name="Google Shape;194;p16"/>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p>
            <a:pPr marL="0" lvl="0" indent="0" algn="ctr" rtl="0">
              <a:lnSpc>
                <a:spcPct val="90000"/>
              </a:lnSpc>
              <a:spcBef>
                <a:spcPts val="0"/>
              </a:spcBef>
              <a:spcAft>
                <a:spcPts val="0"/>
              </a:spcAft>
              <a:buClr>
                <a:schemeClr val="dk1"/>
              </a:buClr>
              <a:buSzPts val="4400"/>
              <a:buFont typeface="Times New Roman" panose="02020603050405020304"/>
              <a:buNone/>
            </a:pPr>
            <a:r>
              <a:rPr lang="en-US" sz="4000" b="1">
                <a:latin typeface="Arial Narrow" panose="020B0606020202030204"/>
                <a:ea typeface="Arial Narrow" panose="020B0606020202030204"/>
                <a:cs typeface="Arial Narrow" panose="020B0606020202030204"/>
                <a:sym typeface="Arial Narrow" panose="020B0606020202030204"/>
              </a:rPr>
              <a:t>CONCLUSION</a:t>
            </a:r>
            <a:endParaRPr lang="en-US" sz="4000" b="1">
              <a:latin typeface="Arial Narrow" panose="020B0606020202030204"/>
              <a:ea typeface="Arial Narrow" panose="020B0606020202030204"/>
              <a:cs typeface="Arial Narrow" panose="020B0606020202030204"/>
              <a:sym typeface="Arial Narrow" panose="020B0606020202030204"/>
            </a:endParaRPr>
          </a:p>
        </p:txBody>
      </p:sp>
      <p:sp>
        <p:nvSpPr>
          <p:cNvPr id="1048674" name="Google Shape;19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The AI-powered authorized area monitoring system using YOLOv8 achieves reliable real-time detection and classification of unauthorized objects.</a:t>
            </a:r>
            <a:endParaRPr lang="en-US" b="0" dirty="0">
              <a:latin typeface="Arial Narrow" panose="020B0606020202030204" pitchFamily="34" charset="0"/>
            </a:endParaRPr>
          </a:p>
          <a:p>
            <a:pPr marL="0" lvl="0" indent="0">
              <a:spcBef>
                <a:spcPts val="0"/>
              </a:spcBef>
              <a:buSzPts val="2800"/>
              <a:buNone/>
            </a:pPr>
            <a:endParaRPr lang="en-US" b="0" dirty="0">
              <a:latin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Automated alarm activation and email notifications enhance response times and enable immediate security actions.</a:t>
            </a:r>
            <a:endParaRPr lang="en-US" b="0" dirty="0">
              <a:latin typeface="Arial Narrow" panose="020B0606020202030204" pitchFamily="34" charset="0"/>
            </a:endParaRPr>
          </a:p>
          <a:p>
            <a:pPr marL="0" lvl="0" indent="0">
              <a:spcBef>
                <a:spcPts val="0"/>
              </a:spcBef>
              <a:buSzPts val="2800"/>
              <a:buNone/>
            </a:pPr>
            <a:endParaRPr lang="en-US" b="0" dirty="0">
              <a:latin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3</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The system’s image logging supports post-incident analysis, improving accountability and documentation.</a:t>
            </a:r>
            <a:endParaRPr lang="en-US" b="0" dirty="0">
              <a:latin typeface="Arial Narrow" panose="020B0606020202030204" pitchFamily="34" charset="0"/>
            </a:endParaRPr>
          </a:p>
        </p:txBody>
      </p:sp>
      <p:sp>
        <p:nvSpPr>
          <p:cNvPr id="1048675"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a:solidFill>
                  <a:schemeClr val="dk1"/>
                </a:solidFill>
              </a:rPr>
            </a:fld>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82" name="Shape 193"/>
        <p:cNvGrpSpPr/>
        <p:nvPr/>
      </p:nvGrpSpPr>
      <p:grpSpPr>
        <a:xfrm>
          <a:off x="0" y="0"/>
          <a:ext cx="0" cy="0"/>
          <a:chOff x="0" y="0"/>
          <a:chExt cx="0" cy="0"/>
        </a:xfrm>
      </p:grpSpPr>
      <p:sp>
        <p:nvSpPr>
          <p:cNvPr id="1048678" name="Google Shape;194;p16"/>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p>
            <a:pPr lvl="0" algn="ctr">
              <a:buSzPts val="4400"/>
            </a:pPr>
            <a:r>
              <a:rPr lang="en-US" sz="4000" b="1" dirty="0">
                <a:latin typeface="Arial Narrow" panose="020B0606020202030204"/>
              </a:rPr>
              <a:t>FUTURE ENHANCEMENTS </a:t>
            </a:r>
            <a:endParaRPr lang="en-US" sz="4000" b="1" dirty="0">
              <a:latin typeface="Arial Narrow" panose="020B0606020202030204"/>
              <a:sym typeface="Arial Narrow" panose="020B0606020202030204"/>
            </a:endParaRPr>
          </a:p>
        </p:txBody>
      </p:sp>
      <p:sp>
        <p:nvSpPr>
          <p:cNvPr id="1048679" name="Google Shape;19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1</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Integration of multi-camera networks for simultaneous monitoring of large restricted areas with centralized alert management.</a:t>
            </a:r>
            <a:endParaRPr lang="en-US" b="0" dirty="0">
              <a:latin typeface="Arial Narrow" panose="020B0606020202030204" pitchFamily="34" charset="0"/>
            </a:endParaRPr>
          </a:p>
          <a:p>
            <a:pPr marL="0" lvl="0" indent="0">
              <a:spcBef>
                <a:spcPts val="0"/>
              </a:spcBef>
              <a:buSzPts val="2800"/>
              <a:buNone/>
            </a:pPr>
            <a:endParaRPr lang="en-US" b="0" dirty="0">
              <a:latin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2</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Cloud-based alerting and storage for secure remote access to images, logs, and notifications.</a:t>
            </a:r>
            <a:endParaRPr lang="en-US" b="0" dirty="0">
              <a:latin typeface="Arial Narrow" panose="020B0606020202030204" pitchFamily="34" charset="0"/>
            </a:endParaRPr>
          </a:p>
          <a:p>
            <a:pPr marL="0" lvl="0" indent="0">
              <a:spcBef>
                <a:spcPts val="0"/>
              </a:spcBef>
              <a:buSzPts val="2800"/>
              <a:buNone/>
            </a:pPr>
            <a:endParaRPr lang="en-US" b="0" dirty="0">
              <a:latin typeface="Arial Narrow" panose="020B0606020202030204" pitchFamily="34" charset="0"/>
            </a:endParaRPr>
          </a:p>
          <a:p>
            <a:pPr marL="0" lvl="0" indent="0">
              <a:spcBef>
                <a:spcPts val="0"/>
              </a:spcBef>
              <a:buSzPts val="2800"/>
              <a:buNone/>
            </a:pP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3</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a:t>
            </a:r>
            <a:r>
              <a:rPr lang="en-US" b="0" dirty="0">
                <a:latin typeface="Arial Narrow" panose="020B0606020202030204" pitchFamily="34" charset="0"/>
                <a:ea typeface="Times New Roman" panose="02020603050405020304"/>
                <a:cs typeface="Times New Roman" panose="02020603050405020304"/>
                <a:sym typeface="Times New Roman" panose="02020603050405020304"/>
              </a:rPr>
              <a:t>Development of mobile applications for Android and iOS to provide instant push notifications and live monitoring</a:t>
            </a:r>
            <a:endParaRPr lang="en-US" b="0" dirty="0">
              <a:latin typeface="Arial Narrow" panose="020B0606020202030204" pitchFamily="34" charset="0"/>
            </a:endParaRPr>
          </a:p>
        </p:txBody>
      </p:sp>
      <p:sp>
        <p:nvSpPr>
          <p:cNvPr id="1048680"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p>
            <a:pPr marL="0" lvl="0" indent="0" algn="r" rtl="0">
              <a:spcBef>
                <a:spcPts val="0"/>
              </a:spcBef>
              <a:spcAft>
                <a:spcPts val="0"/>
              </a:spcAft>
              <a:buNone/>
            </a:pPr>
            <a:fld id="{00000000-1234-1234-1234-123412341234}" type="slidenum">
              <a:rPr lang="en-US">
                <a:solidFill>
                  <a:schemeClr val="dk1"/>
                </a:solidFill>
              </a:rPr>
            </a:fld>
            <a:endParaRPr>
              <a:solidFill>
                <a:schemeClr val="dk1"/>
              </a:solidFill>
            </a:endParaRPr>
          </a:p>
        </p:txBody>
      </p:sp>
    </p:spTree>
  </p:cSld>
  <p:clrMapOvr>
    <a:masterClrMapping/>
  </p:clrMapOvr>
</p:sld>
</file>

<file path=ppt/tags/tag1.xml><?xml version="1.0" encoding="utf-8"?>
<p:tagLst xmlns:p="http://schemas.openxmlformats.org/presentationml/2006/main">
  <p:tag name="TABLE_ENDDRAG_ORIGIN_RECT" val="960*473"/>
  <p:tag name="TABLE_ENDDRAG_RECT" val="0*55*960*473"/>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5862</Words>
  <Application>WPS Presentation</Application>
  <PresentationFormat/>
  <Paragraphs>243</Paragraphs>
  <Slides>18</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18</vt:i4>
      </vt:variant>
    </vt:vector>
  </HeadingPairs>
  <TitlesOfParts>
    <vt:vector size="39" baseType="lpstr">
      <vt:lpstr>Arial</vt:lpstr>
      <vt:lpstr>SimSun</vt:lpstr>
      <vt:lpstr>Wingdings</vt:lpstr>
      <vt:lpstr>Arial</vt:lpstr>
      <vt:lpstr>Calibri</vt:lpstr>
      <vt:lpstr>Arial Narrow</vt:lpstr>
      <vt:lpstr>Times New Roman</vt:lpstr>
      <vt:lpstr>Arial Narrow</vt:lpstr>
      <vt:lpstr>Noto Sans Tagbanwa</vt:lpstr>
      <vt:lpstr>Droid Sans Fallback</vt:lpstr>
      <vt:lpstr>Segoe Print</vt:lpstr>
      <vt:lpstr>Microsoft YaHei</vt:lpstr>
      <vt:lpstr>Arial Unicode MS</vt:lpstr>
      <vt:lpstr>Bahnschrift Light Condensed</vt:lpstr>
      <vt:lpstr>Bahnschrift SemiLight</vt:lpstr>
      <vt:lpstr>Brush Script MT</vt:lpstr>
      <vt:lpstr>Calibri</vt:lpstr>
      <vt:lpstr>Bahnschrift</vt:lpstr>
      <vt:lpstr>Arial Black</vt:lpstr>
      <vt:lpstr>Arial (Body)</vt:lpstr>
      <vt:lpstr>Office Theme</vt:lpstr>
      <vt:lpstr>PowerPoint 演示文稿</vt:lpstr>
      <vt:lpstr>PowerPoint 演示文稿</vt:lpstr>
      <vt:lpstr>OBJECTIVE OF THE PROJECT</vt:lpstr>
      <vt:lpstr>INTRODUCTION</vt:lpstr>
      <vt:lpstr>PowerPoint 演示文稿</vt:lpstr>
      <vt:lpstr>PowerPoint 演示文稿</vt:lpstr>
      <vt:lpstr>PowerPoint 演示文稿</vt:lpstr>
      <vt:lpstr>PowerPoint 演示文稿</vt:lpstr>
      <vt:lpstr>SOFTWARE AND HARDWARE REQUIREMENTS </vt:lpstr>
      <vt:lpstr>MODULES </vt:lpstr>
      <vt:lpstr>IMPLEMENTATION OF MODULE-1</vt:lpstr>
      <vt:lpstr>IMPLEMENTATION OF MODULE-2</vt:lpstr>
      <vt:lpstr>IMPLEMENTATION OF MODULE-3</vt:lpstr>
      <vt:lpstr>IMPLEMENTATION OF MODULE-4</vt:lpstr>
      <vt:lpstr>IMPLEMENTATION OF MODULE-5</vt:lpstr>
      <vt:lpstr>IMPLEMENTATION OF MODULE-5</vt:lpstr>
      <vt:lpstr>CONCLUSION</vt:lpstr>
      <vt:lpstr>FUTURE ENHANCEMENTS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Saravanan M</dc:creator>
  <cp:lastModifiedBy>SAHAANA S</cp:lastModifiedBy>
  <cp:revision>2</cp:revision>
  <dcterms:created xsi:type="dcterms:W3CDTF">2025-11-25T17:27:25Z</dcterms:created>
  <dcterms:modified xsi:type="dcterms:W3CDTF">2025-11-25T17:27:59Z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89A81F3C3D0F40E38AA1F0262BDD4ED2_13</vt:lpwstr>
  </property>
  <property fmtid="{D5CDD505-2E9C-101B-9397-08002B2CF9AE}" pid="3" name="KSOProductBuildVer">
    <vt:lpwstr>1033-12.2.0.23155</vt:lpwstr>
  </property>
</Properties>
</file>